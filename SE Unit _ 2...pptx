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7" r:id="rId2"/>
    <p:sldId id="258" r:id="rId3"/>
    <p:sldId id="260" r:id="rId4"/>
    <p:sldId id="323" r:id="rId5"/>
    <p:sldId id="325" r:id="rId6"/>
    <p:sldId id="324" r:id="rId7"/>
    <p:sldId id="329" r:id="rId8"/>
    <p:sldId id="330" r:id="rId9"/>
    <p:sldId id="371" r:id="rId10"/>
    <p:sldId id="372" r:id="rId11"/>
    <p:sldId id="326" r:id="rId12"/>
    <p:sldId id="332" r:id="rId13"/>
    <p:sldId id="333" r:id="rId14"/>
    <p:sldId id="370" r:id="rId15"/>
    <p:sldId id="334" r:id="rId16"/>
    <p:sldId id="335" r:id="rId17"/>
    <p:sldId id="337" r:id="rId18"/>
    <p:sldId id="338" r:id="rId19"/>
    <p:sldId id="339" r:id="rId20"/>
    <p:sldId id="340" r:id="rId21"/>
    <p:sldId id="327" r:id="rId22"/>
    <p:sldId id="328" r:id="rId23"/>
    <p:sldId id="343" r:id="rId24"/>
    <p:sldId id="331" r:id="rId25"/>
    <p:sldId id="344" r:id="rId26"/>
    <p:sldId id="342" r:id="rId27"/>
    <p:sldId id="346" r:id="rId28"/>
    <p:sldId id="373" r:id="rId29"/>
    <p:sldId id="341" r:id="rId30"/>
    <p:sldId id="349" r:id="rId31"/>
    <p:sldId id="350" r:id="rId32"/>
    <p:sldId id="351" r:id="rId33"/>
    <p:sldId id="359" r:id="rId34"/>
    <p:sldId id="354" r:id="rId35"/>
    <p:sldId id="352" r:id="rId36"/>
    <p:sldId id="355" r:id="rId37"/>
    <p:sldId id="356" r:id="rId38"/>
    <p:sldId id="360" r:id="rId39"/>
    <p:sldId id="358" r:id="rId40"/>
    <p:sldId id="378" r:id="rId41"/>
    <p:sldId id="379" r:id="rId42"/>
    <p:sldId id="380" r:id="rId43"/>
    <p:sldId id="381" r:id="rId44"/>
    <p:sldId id="382" r:id="rId45"/>
    <p:sldId id="383" r:id="rId46"/>
    <p:sldId id="348" r:id="rId47"/>
    <p:sldId id="375" r:id="rId48"/>
    <p:sldId id="376" r:id="rId49"/>
    <p:sldId id="377" r:id="rId50"/>
    <p:sldId id="362" r:id="rId51"/>
    <p:sldId id="347" r:id="rId52"/>
    <p:sldId id="366" r:id="rId53"/>
    <p:sldId id="364" r:id="rId54"/>
    <p:sldId id="361" r:id="rId55"/>
    <p:sldId id="365" r:id="rId56"/>
    <p:sldId id="374" r:id="rId57"/>
    <p:sldId id="367" r:id="rId58"/>
    <p:sldId id="368" r:id="rId59"/>
    <p:sldId id="369" r:id="rId60"/>
    <p:sldId id="321" r:id="rId6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B67A-04D4-4725-9E9B-AF9BEA2DB19A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27F48-7CFA-4648-8465-9CF5BE0D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7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10">
            <a:extLst>
              <a:ext uri="{FF2B5EF4-FFF2-40B4-BE49-F238E27FC236}">
                <a16:creationId xmlns:a16="http://schemas.microsoft.com/office/drawing/2014/main" id="{467A548B-2855-EE3C-9FDB-FA244E04F391}"/>
              </a:ext>
            </a:extLst>
          </p:cNvPr>
          <p:cNvGrpSpPr/>
          <p:nvPr userDrawn="1"/>
        </p:nvGrpSpPr>
        <p:grpSpPr>
          <a:xfrm>
            <a:off x="377036" y="1"/>
            <a:ext cx="8698811" cy="6857999"/>
            <a:chOff x="-4801433" y="-1782234"/>
            <a:chExt cx="18084927" cy="14257864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6B8C205A-7087-CF38-99F4-B0053CB4FE60}"/>
                </a:ext>
              </a:extLst>
            </p:cNvPr>
            <p:cNvSpPr/>
            <p:nvPr/>
          </p:nvSpPr>
          <p:spPr>
            <a:xfrm>
              <a:off x="-4801433" y="1790698"/>
              <a:ext cx="12600815" cy="983098"/>
            </a:xfrm>
            <a:custGeom>
              <a:avLst/>
              <a:gdLst/>
              <a:ahLst/>
              <a:cxnLst/>
              <a:rect l="l" t="t" r="r" b="b"/>
              <a:pathLst>
                <a:path w="4610100" h="6604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8F51262-3750-3A6F-3A92-74D6791C62FB}"/>
                </a:ext>
              </a:extLst>
            </p:cNvPr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 sz="865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0743AE-05B8-728F-CB92-2C0BA30CB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" y="253736"/>
            <a:ext cx="4597617" cy="691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D257D0-4131-4888-983C-C92DFD3C1541}"/>
              </a:ext>
            </a:extLst>
          </p:cNvPr>
          <p:cNvSpPr txBox="1"/>
          <p:nvPr userDrawn="1"/>
        </p:nvSpPr>
        <p:spPr>
          <a:xfrm>
            <a:off x="6629400" y="293754"/>
            <a:ext cx="2801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CSE-AI &amp; ML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14A5E2-5AF5-9BF9-6092-47DB459663EF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A7D79-652A-AEA1-E147-CBFC2E4323B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7A149-02A8-439C-10C9-7E409452798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2" name="object 3">
            <a:extLst>
              <a:ext uri="{FF2B5EF4-FFF2-40B4-BE49-F238E27FC236}">
                <a16:creationId xmlns:a16="http://schemas.microsoft.com/office/drawing/2014/main" id="{5FF3F8BA-A523-0489-D6A2-253B8AF63491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A4F14-9FC3-AC8B-9550-50B04280F4AA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99DCD3-0FEE-4E49-04F8-35CE84D6F7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CA16294-4CE8-4244-82D5-06B2D4FFDDC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84774D53-FAAF-2B9B-95DF-996373FF4AEA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56791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3999" y="642936"/>
                </a:moveTo>
                <a:lnTo>
                  <a:pt x="0" y="642936"/>
                </a:lnTo>
                <a:lnTo>
                  <a:pt x="0" y="0"/>
                </a:lnTo>
                <a:lnTo>
                  <a:pt x="9143999" y="0"/>
                </a:lnTo>
                <a:lnTo>
                  <a:pt x="9143999" y="64293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C74AEB-179E-9522-FB80-3A6792901FEC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4A9A1F-B994-071D-C394-B5D058AABC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60D1BA-7EFD-DEE0-21A9-EC5D9E9C57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1CB06AE4-BAFC-A241-85ED-2FFC67BE2812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418A933-E86D-8037-A701-758B86A1922D}"/>
              </a:ext>
            </a:extLst>
          </p:cNvPr>
          <p:cNvGrpSpPr/>
          <p:nvPr userDrawn="1"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94BEB2-FEC0-D51D-A7FB-9CCD45E6B94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6EBE41-B014-4F4C-1761-C88F5DA91EC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55405AE3-DA08-8DE9-1C4C-750BDD0882BD}"/>
              </a:ext>
            </a:extLst>
          </p:cNvPr>
          <p:cNvSpPr/>
          <p:nvPr userDrawn="1"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7375" y="3071813"/>
            <a:ext cx="5430838" cy="2803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525" y="1697673"/>
            <a:ext cx="861695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710" y="2580144"/>
            <a:ext cx="739648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paruluniversity.ac.in/" TargetMode="Externa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071" y="1905000"/>
            <a:ext cx="8865802" cy="2803524"/>
            <a:chOff x="0" y="2571750"/>
            <a:chExt cx="8865802" cy="280352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2571750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4750"/>
              <a:ext cx="8865802" cy="714375"/>
            </a:xfrm>
            <a:custGeom>
              <a:avLst/>
              <a:gdLst/>
              <a:ahLst/>
              <a:cxnLst/>
              <a:rect l="l" t="t" r="r" b="b"/>
              <a:pathLst>
                <a:path w="9144000" h="714375">
                  <a:moveTo>
                    <a:pt x="9143999" y="714374"/>
                  </a:moveTo>
                  <a:lnTo>
                    <a:pt x="0" y="714374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14374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6800" y="2343149"/>
            <a:ext cx="7312025" cy="139589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285"/>
              </a:spcBef>
            </a:pPr>
            <a:r>
              <a:rPr sz="3500" b="1" spc="-25" dirty="0">
                <a:latin typeface="Calibri"/>
                <a:cs typeface="Calibri"/>
              </a:rPr>
              <a:t>Unit-</a:t>
            </a:r>
            <a:r>
              <a:rPr lang="en-US" sz="3500" b="1" spc="-50" dirty="0">
                <a:latin typeface="Calibri"/>
                <a:cs typeface="Calibri"/>
              </a:rPr>
              <a:t>2</a:t>
            </a:r>
            <a:endParaRPr sz="35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lang="en-IN" sz="3500" b="1" dirty="0">
                <a:solidFill>
                  <a:srgbClr val="FFFFFF"/>
                </a:solidFill>
                <a:latin typeface="Calibri"/>
                <a:cs typeface="Calibri"/>
              </a:rPr>
              <a:t>Software Project Management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8D6D9783-4E44-6D64-4827-A4C0D1480D90}"/>
              </a:ext>
            </a:extLst>
          </p:cNvPr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39B6FF-EB1D-920B-8F1A-A74775DFC1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65B30F-284D-8294-DE39-CDBE5C7759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1DC6A8-A50F-CDDA-86F2-C3BB1AE43BC6}"/>
                </a:ext>
              </a:extLst>
            </p:cNvPr>
            <p:cNvSpPr txBox="1"/>
            <p:nvPr userDrawn="1"/>
          </p:nvSpPr>
          <p:spPr>
            <a:xfrm>
              <a:off x="6019800" y="264007"/>
              <a:ext cx="30410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3" name="object 6">
            <a:extLst>
              <a:ext uri="{FF2B5EF4-FFF2-40B4-BE49-F238E27FC236}">
                <a16:creationId xmlns:a16="http://schemas.microsoft.com/office/drawing/2014/main" id="{0AFC26B3-CD51-B0DA-9EFC-533637722915}"/>
              </a:ext>
            </a:extLst>
          </p:cNvPr>
          <p:cNvSpPr txBox="1"/>
          <p:nvPr/>
        </p:nvSpPr>
        <p:spPr>
          <a:xfrm>
            <a:off x="630810" y="5299327"/>
            <a:ext cx="2721990" cy="1549783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190"/>
              </a:spcBef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Deepak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Palavalasa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AI&amp;DS Department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190"/>
              </a:spcBef>
            </a:pP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667000"/>
            <a:ext cx="6172200" cy="3488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Software Project Management: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Management Spectrum, People, Product, Process- Project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W5HH Principle, Importance of Team Management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endParaRPr lang="en-US" sz="2000" b="1" spc="-1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Planning a Software Project :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Scope and Feasibility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Effort Estimation, Schedule and staffing, Quality Planning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811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Risk management- </a:t>
            </a:r>
            <a:r>
              <a:rPr lang="en-US" sz="2000" b="1" spc="-10" dirty="0" err="1">
                <a:latin typeface="Calibri"/>
                <a:cs typeface="Calibri"/>
              </a:rPr>
              <a:t>identification,assessment</a:t>
            </a:r>
            <a:r>
              <a:rPr lang="en-US" sz="2000" b="1" spc="-10" dirty="0">
                <a:latin typeface="Calibri"/>
                <a:cs typeface="Calibri"/>
              </a:rPr>
              <a:t>, control, project monitoring plan, Detailed Scheduling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4294967295"/>
          </p:nvPr>
        </p:nvSpPr>
        <p:spPr>
          <a:xfrm>
            <a:off x="1066800" y="1697038"/>
            <a:ext cx="7550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Contents-</a:t>
            </a:r>
            <a:r>
              <a:rPr lang="en-IN" spc="-45" dirty="0"/>
              <a:t> </a:t>
            </a:r>
            <a:r>
              <a:rPr lang="en-IN" dirty="0"/>
              <a:t>Software</a:t>
            </a:r>
            <a:r>
              <a:rPr lang="en-IN" spc="-40" dirty="0"/>
              <a:t> </a:t>
            </a:r>
            <a:r>
              <a:rPr lang="en-IN" spc="-10" dirty="0"/>
              <a:t>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A66039-16E0-17AE-F5CC-1838F7AC643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4AE8AB-6C6E-5572-3C2A-D81F05E9556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B51CBA-6786-FB05-7190-2196F999745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701614F1-FE4D-2F7B-6BAC-30288EF0A112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5C901F-DA8B-5FB3-873E-70C6021A40E2}"/>
              </a:ext>
            </a:extLst>
          </p:cNvPr>
          <p:cNvSpPr txBox="1"/>
          <p:nvPr/>
        </p:nvSpPr>
        <p:spPr>
          <a:xfrm>
            <a:off x="1143000" y="2765332"/>
            <a:ext cx="72413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Software Project Management revolves around </a:t>
            </a:r>
            <a:r>
              <a:rPr lang="en-US" b="1" dirty="0"/>
              <a:t>4 main elements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People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Product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Process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IN" dirty="0"/>
              <a:t>Project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0B0CF1-FF07-B1A6-A9F6-0A58443E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3A58DA0-A358-FC97-1042-CDC5879533E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F921F41-BD5E-6300-0E90-EAD1E5884A2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281C43-2BF7-C416-C59E-976D6C2B933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4AC10E-969B-8BC1-4A32-15F78172E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9FF0C6-2542-F5C7-8659-642DD0FB13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14"/>
          <a:stretch/>
        </p:blipFill>
        <p:spPr>
          <a:xfrm>
            <a:off x="228065" y="208814"/>
            <a:ext cx="5829835" cy="695162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4174DE64-5F3B-EA97-550E-BED4A14C221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82957-896E-C84A-6C5D-76978144F15C}"/>
              </a:ext>
            </a:extLst>
          </p:cNvPr>
          <p:cNvSpPr txBox="1"/>
          <p:nvPr/>
        </p:nvSpPr>
        <p:spPr>
          <a:xfrm>
            <a:off x="533400" y="2328186"/>
            <a:ext cx="8153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People</a:t>
            </a:r>
            <a:br>
              <a:rPr lang="en-US" dirty="0"/>
            </a:br>
            <a:r>
              <a:rPr lang="en-US" dirty="0"/>
              <a:t>People are the most important part of any software project. </a:t>
            </a:r>
          </a:p>
          <a:p>
            <a:r>
              <a:rPr lang="en-US" dirty="0"/>
              <a:t>Their skills, communication, teamwork, and responsibility for project success.</a:t>
            </a:r>
            <a:br>
              <a:rPr lang="en-US" dirty="0"/>
            </a:br>
            <a:r>
              <a:rPr lang="en-US" dirty="0"/>
              <a:t>People include developers, testers, analysts, designers, project managers, etc.</a:t>
            </a:r>
          </a:p>
          <a:p>
            <a:endParaRPr lang="en-US" dirty="0"/>
          </a:p>
          <a:p>
            <a:r>
              <a:rPr lang="en-US" b="1" dirty="0"/>
              <a:t>Product</a:t>
            </a:r>
            <a:br>
              <a:rPr lang="en-US" dirty="0"/>
            </a:br>
            <a:r>
              <a:rPr lang="en-US" dirty="0"/>
              <a:t>The product refers to the </a:t>
            </a:r>
            <a:r>
              <a:rPr lang="en-US" i="1" dirty="0"/>
              <a:t>actual software</a:t>
            </a:r>
            <a:r>
              <a:rPr lang="en-US" dirty="0"/>
              <a:t> being developed and its features, functions, constraints, and requirements.</a:t>
            </a:r>
          </a:p>
          <a:p>
            <a:endParaRPr lang="en-US" dirty="0"/>
          </a:p>
          <a:p>
            <a:r>
              <a:rPr lang="en-US" b="1" dirty="0"/>
              <a:t>Real-Time Example:		</a:t>
            </a:r>
            <a:r>
              <a:rPr lang="en-US" dirty="0"/>
              <a:t>Product = </a:t>
            </a:r>
            <a:r>
              <a:rPr lang="en-US" b="1" dirty="0"/>
              <a:t>Online Shopping Website</a:t>
            </a:r>
            <a:br>
              <a:rPr lang="en-US" dirty="0"/>
            </a:br>
            <a:r>
              <a:rPr lang="en-US" dirty="0"/>
              <a:t>Features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to Cart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F4A91-0901-867C-E847-9DB3CC4FDADA}"/>
              </a:ext>
            </a:extLst>
          </p:cNvPr>
          <p:cNvSpPr txBox="1"/>
          <p:nvPr/>
        </p:nvSpPr>
        <p:spPr>
          <a:xfrm>
            <a:off x="5943600" y="264007"/>
            <a:ext cx="3117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487C"/>
                </a:solidFill>
              </a:rPr>
              <a:t>CSE-</a:t>
            </a:r>
            <a:r>
              <a:rPr lang="en-US" sz="3200" b="1" baseline="0" dirty="0">
                <a:solidFill>
                  <a:srgbClr val="1F487C"/>
                </a:solidFill>
              </a:rPr>
              <a:t> AI &amp; </a:t>
            </a:r>
            <a:r>
              <a:rPr lang="en-US" sz="3200" b="1" dirty="0">
                <a:solidFill>
                  <a:srgbClr val="1F487C"/>
                </a:solidFill>
              </a:rPr>
              <a:t>DS</a:t>
            </a:r>
          </a:p>
        </p:txBody>
      </p:sp>
    </p:spTree>
    <p:extLst>
      <p:ext uri="{BB962C8B-B14F-4D97-AF65-F5344CB8AC3E}">
        <p14:creationId xmlns:p14="http://schemas.microsoft.com/office/powerpoint/2010/main" val="82390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4EC6DC-A75C-A8FF-B055-37A819B5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3BCC8AB-023B-7AD0-A345-E2769BB5FC7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8FED1AA-664D-19BE-8365-18B149579A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340E6D0-9C29-6D58-9AD3-1FD799CC2796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A2C1218-162B-4213-AE31-B705556C6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Management Spectrum</a:t>
            </a:r>
            <a:endParaRPr spc="-1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BEF11C-55C7-F765-C5E2-1138C53A5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14"/>
          <a:stretch/>
        </p:blipFill>
        <p:spPr>
          <a:xfrm>
            <a:off x="228065" y="208814"/>
            <a:ext cx="5829835" cy="695162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93E767FD-D849-1285-2B78-62A4C1F99C8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43B40-9F3A-D9E6-98FA-D04FA5D05C53}"/>
              </a:ext>
            </a:extLst>
          </p:cNvPr>
          <p:cNvSpPr txBox="1"/>
          <p:nvPr/>
        </p:nvSpPr>
        <p:spPr>
          <a:xfrm>
            <a:off x="533400" y="2328186"/>
            <a:ext cx="8153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Process</a:t>
            </a:r>
          </a:p>
          <a:p>
            <a:r>
              <a:rPr lang="en-US" dirty="0"/>
              <a:t>Process defines the steps, methods, and models used for development (Agile, Waterfall, Spiral). It ensures disciplined and structured work.</a:t>
            </a:r>
          </a:p>
          <a:p>
            <a:endParaRPr lang="en-US" dirty="0"/>
          </a:p>
          <a:p>
            <a:r>
              <a:rPr lang="en-US" b="1" dirty="0"/>
              <a:t>Project</a:t>
            </a:r>
            <a:br>
              <a:rPr lang="en-US" dirty="0"/>
            </a:br>
            <a:r>
              <a:rPr lang="en-US" dirty="0"/>
              <a:t>A project includes planning, scheduling, budgeting, risk handling, monitoring, and delivering the product on time.</a:t>
            </a:r>
          </a:p>
          <a:p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Developing a </a:t>
            </a:r>
            <a:r>
              <a:rPr lang="en-US" b="1" dirty="0"/>
              <a:t>Banking App</a:t>
            </a:r>
            <a:r>
              <a:rPr lang="en-US" dirty="0"/>
              <a:t> with phases: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 Analysis – 2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Design – 1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– 8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– 3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 – 1 week</a:t>
            </a:r>
          </a:p>
        </p:txBody>
      </p:sp>
    </p:spTree>
    <p:extLst>
      <p:ext uri="{BB962C8B-B14F-4D97-AF65-F5344CB8AC3E}">
        <p14:creationId xmlns:p14="http://schemas.microsoft.com/office/powerpoint/2010/main" val="24894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C44392-2D92-9C6A-E7A2-8CD63DC1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FA59822-D5D1-EAF8-6404-50782CD4856D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DFFBCA-3A33-CD17-AFC6-B28DDFBFFD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037AEF0-6883-DB7A-A185-3D27129AAC66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F7A32E5-95FE-9A4E-8816-9D8FA075F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401043-658D-C6D6-F3BF-1DD1265C9FA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1C9776-6827-A5DC-5F32-3154FE65B80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0305AA-8AED-D45B-6946-FBFB151FF4E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C81E330-0F99-573F-329A-CC80B400E3AB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FC4E9-9870-F8FB-BB36-5E5609FBBE5E}"/>
              </a:ext>
            </a:extLst>
          </p:cNvPr>
          <p:cNvSpPr txBox="1"/>
          <p:nvPr/>
        </p:nvSpPr>
        <p:spPr>
          <a:xfrm>
            <a:off x="685800" y="2765332"/>
            <a:ext cx="76985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project planning technique to answer important questions:</a:t>
            </a:r>
          </a:p>
          <a:p>
            <a:endParaRPr lang="en-US" dirty="0"/>
          </a:p>
          <a:p>
            <a:r>
              <a:rPr lang="en-US" b="1" dirty="0"/>
              <a:t>Why</a:t>
            </a:r>
            <a:r>
              <a:rPr lang="en-US" dirty="0"/>
              <a:t> is the project being done?</a:t>
            </a:r>
          </a:p>
          <a:p>
            <a:r>
              <a:rPr lang="en-US" b="1" dirty="0"/>
              <a:t>What</a:t>
            </a:r>
            <a:r>
              <a:rPr lang="en-US" dirty="0"/>
              <a:t> will be done?</a:t>
            </a:r>
          </a:p>
          <a:p>
            <a:r>
              <a:rPr lang="en-US" b="1" dirty="0"/>
              <a:t>When</a:t>
            </a:r>
            <a:r>
              <a:rPr lang="en-US" dirty="0"/>
              <a:t> will it be completed?</a:t>
            </a:r>
          </a:p>
          <a:p>
            <a:r>
              <a:rPr lang="en-US" b="1" dirty="0"/>
              <a:t>Who</a:t>
            </a:r>
            <a:r>
              <a:rPr lang="en-US" dirty="0"/>
              <a:t> will do it?</a:t>
            </a:r>
          </a:p>
          <a:p>
            <a:r>
              <a:rPr lang="en-US" b="1" dirty="0"/>
              <a:t>Where</a:t>
            </a:r>
            <a:r>
              <a:rPr lang="en-US" dirty="0"/>
              <a:t> will development happen?</a:t>
            </a:r>
          </a:p>
          <a:p>
            <a:r>
              <a:rPr lang="en-US" b="1" dirty="0"/>
              <a:t>How</a:t>
            </a:r>
            <a:r>
              <a:rPr lang="en-US" dirty="0"/>
              <a:t> will it be done?</a:t>
            </a:r>
          </a:p>
          <a:p>
            <a:r>
              <a:rPr lang="en-US" b="1" dirty="0"/>
              <a:t>How much</a:t>
            </a:r>
            <a:r>
              <a:rPr lang="en-US" dirty="0"/>
              <a:t> will it cost?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3072C1-A45D-0321-BA2B-22AEB827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C978DEE-8C35-DEE1-FCEF-83D5C3774187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389AC8-14BC-3FAD-C95B-6417B9CC09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684AE88-6721-B9A1-7D8B-1DF68E20DB4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3390C39-C350-2E44-3F88-2CD81AE1E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32BEB7-7BD6-7268-43C6-BEACF4BDA9F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C5578F-315D-34CC-9647-281EFBDD74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9A18E-3ECA-E1E2-09AA-94A1C8D1EE8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8D64C3D-C027-5C1E-A82E-301EA0A789D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1BBBE-AF52-7C91-0267-A7935711296A}"/>
              </a:ext>
            </a:extLst>
          </p:cNvPr>
          <p:cNvSpPr txBox="1"/>
          <p:nvPr/>
        </p:nvSpPr>
        <p:spPr>
          <a:xfrm>
            <a:off x="685800" y="2765332"/>
            <a:ext cx="76985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Project: Building an </a:t>
            </a:r>
            <a:r>
              <a:rPr lang="en-US" b="1" dirty="0"/>
              <a:t>Online Learning Platform</a:t>
            </a:r>
          </a:p>
          <a:p>
            <a:endParaRPr lang="en-US" dirty="0"/>
          </a:p>
          <a:p>
            <a:r>
              <a:rPr lang="en-US" b="1" dirty="0"/>
              <a:t>Why:</a:t>
            </a:r>
            <a:r>
              <a:rPr lang="en-US" dirty="0"/>
              <a:t> To provide video classes to students</a:t>
            </a:r>
          </a:p>
          <a:p>
            <a:r>
              <a:rPr lang="en-US" b="1" dirty="0"/>
              <a:t>What:</a:t>
            </a:r>
            <a:r>
              <a:rPr lang="en-US" dirty="0"/>
              <a:t> Video lessons, tests, tracking progress</a:t>
            </a:r>
          </a:p>
          <a:p>
            <a:r>
              <a:rPr lang="en-US" b="1" dirty="0"/>
              <a:t>When:</a:t>
            </a:r>
            <a:r>
              <a:rPr lang="en-US" dirty="0"/>
              <a:t> 6 months</a:t>
            </a:r>
          </a:p>
          <a:p>
            <a:r>
              <a:rPr lang="en-US" b="1" dirty="0"/>
              <a:t>Who:</a:t>
            </a:r>
            <a:r>
              <a:rPr lang="en-US" dirty="0"/>
              <a:t> 1 PM, 6 developers, 2 testers</a:t>
            </a:r>
          </a:p>
          <a:p>
            <a:r>
              <a:rPr lang="en-US" b="1" dirty="0"/>
              <a:t>Where:</a:t>
            </a:r>
            <a:r>
              <a:rPr lang="en-US" dirty="0"/>
              <a:t> Hybrid (office + remote)</a:t>
            </a:r>
          </a:p>
          <a:p>
            <a:r>
              <a:rPr lang="en-US" b="1" dirty="0"/>
              <a:t>How:</a:t>
            </a:r>
            <a:r>
              <a:rPr lang="en-US" dirty="0"/>
              <a:t> Using MERN stack + Cloud</a:t>
            </a:r>
          </a:p>
          <a:p>
            <a:r>
              <a:rPr lang="en-US" b="1" dirty="0"/>
              <a:t>How much:</a:t>
            </a:r>
            <a:r>
              <a:rPr lang="en-US" dirty="0"/>
              <a:t> ₹25–30 lakhs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36A741-0B7C-7E73-4A94-F8D8DF94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C9BC7E0-C956-3D99-E8A8-7B749CC8003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E777626-B89A-A8AC-6A7E-501FD628CC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99763D-8AD8-0750-8429-8F5592A1249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45D4565-39B9-2A62-E568-BE596C744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0ED799-F153-0FFD-5836-24E2BA2B35F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6B84B0-5CB1-FB51-D2D5-B9ACDF44D9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976FFB-13F8-002C-26B3-12F29CA1179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4DCE88D-78F8-2F27-0D35-BD30B950176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7F4DF-B3F7-C9DC-5AC0-E91C1188BC61}"/>
              </a:ext>
            </a:extLst>
          </p:cNvPr>
          <p:cNvSpPr txBox="1"/>
          <p:nvPr/>
        </p:nvSpPr>
        <p:spPr>
          <a:xfrm>
            <a:off x="685800" y="2765332"/>
            <a:ext cx="76985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Project:</a:t>
            </a:r>
            <a:r>
              <a:rPr lang="en-US" dirty="0"/>
              <a:t> Building a Banking Mobile App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To provide customers secure online banking services</a:t>
            </a:r>
          </a:p>
          <a:p>
            <a:r>
              <a:rPr lang="en-US" dirty="0"/>
              <a:t>Reduce branch visits &amp; improve convenience</a:t>
            </a:r>
          </a:p>
          <a:p>
            <a:endParaRPr lang="en-US" dirty="0"/>
          </a:p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Account balance, statements</a:t>
            </a:r>
          </a:p>
          <a:p>
            <a:r>
              <a:rPr lang="en-US" dirty="0"/>
              <a:t>Money transfer (IMPS/NEFT/RTGS/UPI)</a:t>
            </a:r>
          </a:p>
          <a:p>
            <a:r>
              <a:rPr lang="en-US" dirty="0"/>
              <a:t>Bill payments</a:t>
            </a:r>
          </a:p>
          <a:p>
            <a:r>
              <a:rPr lang="en-US" dirty="0"/>
              <a:t>Card management</a:t>
            </a:r>
          </a:p>
          <a:p>
            <a:r>
              <a:rPr lang="en-US" dirty="0"/>
              <a:t>Notifications &amp; alerts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9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2F8554-42B1-E291-9243-2A6300F8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1259D8-9A75-934E-6F2D-13E9906F98D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70A195-E7CD-BAF9-90BC-5BFE26AAF21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8A81BB6-EB19-D819-6CB1-742D618559BA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1BC3882-0A6E-AC2E-3AEA-09BFB8BF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4864DE-BC4A-ED8F-BD91-926A0885395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C1E6177-E77C-4672-B831-6AC5D92872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872A98-D78B-74E1-AF77-08091BEF492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A7B0DCC-E43C-8E4C-ABFC-8AA7F3AFF35D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01BDA-FBC5-01D1-D974-1458A04C3BE9}"/>
              </a:ext>
            </a:extLst>
          </p:cNvPr>
          <p:cNvSpPr txBox="1"/>
          <p:nvPr/>
        </p:nvSpPr>
        <p:spPr>
          <a:xfrm>
            <a:off x="685800" y="2765332"/>
            <a:ext cx="76985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When:</a:t>
            </a:r>
            <a:endParaRPr lang="en-US" dirty="0"/>
          </a:p>
          <a:p>
            <a:r>
              <a:rPr lang="en-US" dirty="0"/>
              <a:t>8 months</a:t>
            </a:r>
          </a:p>
          <a:p>
            <a:endParaRPr lang="en-US" dirty="0"/>
          </a:p>
          <a:p>
            <a:r>
              <a:rPr lang="en-US" b="1" dirty="0"/>
              <a:t>Who:</a:t>
            </a:r>
            <a:endParaRPr lang="en-US" dirty="0"/>
          </a:p>
          <a:p>
            <a:r>
              <a:rPr lang="en-US" dirty="0"/>
              <a:t>1 PM</a:t>
            </a:r>
          </a:p>
          <a:p>
            <a:r>
              <a:rPr lang="en-US" dirty="0"/>
              <a:t>6 Developers</a:t>
            </a:r>
          </a:p>
          <a:p>
            <a:r>
              <a:rPr lang="en-US" dirty="0"/>
              <a:t>3 Testers</a:t>
            </a:r>
          </a:p>
          <a:p>
            <a:r>
              <a:rPr lang="en-US" dirty="0"/>
              <a:t>1 UI/UX designer</a:t>
            </a:r>
          </a:p>
          <a:p>
            <a:r>
              <a:rPr lang="en-US" dirty="0"/>
              <a:t>1 Cybersecurity specialist</a:t>
            </a:r>
          </a:p>
          <a:p>
            <a:endParaRPr lang="en-US" dirty="0"/>
          </a:p>
          <a:p>
            <a:r>
              <a:rPr lang="en-US" b="1" dirty="0"/>
              <a:t>Where:</a:t>
            </a:r>
            <a:endParaRPr lang="en-US" dirty="0"/>
          </a:p>
          <a:p>
            <a:r>
              <a:rPr lang="en-US" dirty="0"/>
              <a:t>Hybrid (office for secure tasks + remote coding)</a:t>
            </a:r>
          </a:p>
        </p:txBody>
      </p:sp>
    </p:spTree>
    <p:extLst>
      <p:ext uri="{BB962C8B-B14F-4D97-AF65-F5344CB8AC3E}">
        <p14:creationId xmlns:p14="http://schemas.microsoft.com/office/powerpoint/2010/main" val="11365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4BC6E2-EAF6-20F9-48B6-39745D13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E85D4A-DE16-0FF4-5C4E-3A4CB680F3E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E4B77-16E8-9E60-8425-B03078D7C0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722601C-8647-58D0-42AA-90AE7BB322D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9D40A53-A65F-47F1-BAC3-C0F192346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7200" y="1709457"/>
            <a:ext cx="8584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W5HH Principle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9D9823-C373-F1E9-431B-89D603B0268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1EDE9F-B806-A65D-02DE-558AE31478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579866-77BB-0434-4000-B871D4ECDF5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176DA8A-605B-85FF-A10B-1C152D32C2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E306-D9CB-6DE0-387C-77F0B87FC085}"/>
              </a:ext>
            </a:extLst>
          </p:cNvPr>
          <p:cNvSpPr txBox="1"/>
          <p:nvPr/>
        </p:nvSpPr>
        <p:spPr>
          <a:xfrm>
            <a:off x="685800" y="2765332"/>
            <a:ext cx="76985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Tech: Flutter/React Native, Node.js/Spring Boot, PostgreSQL</a:t>
            </a:r>
          </a:p>
          <a:p>
            <a:r>
              <a:rPr lang="en-IN" dirty="0"/>
              <a:t>Cloud deployment (AWS/Azure)</a:t>
            </a:r>
          </a:p>
          <a:p>
            <a:r>
              <a:rPr lang="en-IN" dirty="0"/>
              <a:t>High-security encryption + MFA</a:t>
            </a:r>
          </a:p>
          <a:p>
            <a:endParaRPr lang="en-IN" dirty="0"/>
          </a:p>
          <a:p>
            <a:r>
              <a:rPr lang="en-IN" b="1" dirty="0"/>
              <a:t>How much:</a:t>
            </a:r>
            <a:endParaRPr lang="en-IN" dirty="0"/>
          </a:p>
          <a:p>
            <a:r>
              <a:rPr lang="en-IN" dirty="0"/>
              <a:t>₹40–50 lakhs</a:t>
            </a:r>
          </a:p>
        </p:txBody>
      </p:sp>
    </p:spTree>
    <p:extLst>
      <p:ext uri="{BB962C8B-B14F-4D97-AF65-F5344CB8AC3E}">
        <p14:creationId xmlns:p14="http://schemas.microsoft.com/office/powerpoint/2010/main" val="64848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035B7B-1D10-A17F-50BC-1A51D6B8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669561D-D688-6A79-2E07-624CC4542CC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5BC008D-F977-7902-AB8B-27F4B5391D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B232BF-30DF-7448-15EA-98C1ED5076A9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F324C08-BD7E-D00C-5F69-008E17C3E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Project Scope and Feasibility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CA2D8B-4FBC-E6A5-5129-922CE42619B1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935DBB8-0F57-0FB3-951B-BAFC8E0E29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C32548-FB36-D263-2590-8013E77CA19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8EEA4C37-A925-B307-1BCD-9B4E5D41D6C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BE059-B857-8D63-672D-569E56EEA1CA}"/>
              </a:ext>
            </a:extLst>
          </p:cNvPr>
          <p:cNvSpPr txBox="1"/>
          <p:nvPr/>
        </p:nvSpPr>
        <p:spPr>
          <a:xfrm>
            <a:off x="760822" y="2459891"/>
            <a:ext cx="762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scope defines:</a:t>
            </a:r>
          </a:p>
          <a:p>
            <a:endParaRPr lang="en-US" dirty="0"/>
          </a:p>
          <a:p>
            <a:r>
              <a:rPr lang="en-US" b="1" dirty="0"/>
              <a:t>What the project will deliver</a:t>
            </a:r>
            <a:r>
              <a:rPr lang="en-US" dirty="0"/>
              <a:t> (software features, modules, outputs)</a:t>
            </a:r>
          </a:p>
          <a:p>
            <a:r>
              <a:rPr lang="en-US" b="1" dirty="0"/>
              <a:t>What is NOT included</a:t>
            </a:r>
            <a:endParaRPr lang="en-US" dirty="0"/>
          </a:p>
          <a:p>
            <a:r>
              <a:rPr lang="en-US" dirty="0"/>
              <a:t>Overall </a:t>
            </a:r>
            <a:r>
              <a:rPr lang="en-US" b="1" dirty="0"/>
              <a:t>boundaries</a:t>
            </a:r>
            <a:r>
              <a:rPr lang="en-US" dirty="0"/>
              <a:t>, constraints, assumptions</a:t>
            </a:r>
          </a:p>
          <a:p>
            <a:endParaRPr lang="en-US" dirty="0"/>
          </a:p>
          <a:p>
            <a:r>
              <a:rPr lang="en-US" b="1" dirty="0"/>
              <a:t>Key Components of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Business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Functional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Non-Functional Scope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Technology and Platform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Constraints (Time, Budget, Tools, Regulations)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Assumptions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69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442DBB-3671-65AB-4C3E-18C4E6CE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4E455A1-4040-4902-68A0-87EC1D606191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7041C7B-45A3-31BA-4938-E65B7DA6F6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0613EC9-FA70-DEB9-A1B7-224D80295A65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89D93E5-D5CB-7275-0BDB-BBDE6CEA3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Project Scope and Feasibility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527D54-A7B6-E7E0-C640-BCBC6ADCDA0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4F7A79-652C-2EF6-5E7D-1E463E64E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5BF864-D28B-0F64-17A7-5A65A46427B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9C4AE2B-0F04-3DC9-2977-2100A608D3AB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2CEB3-C738-8A53-BD50-593C44FE96D2}"/>
              </a:ext>
            </a:extLst>
          </p:cNvPr>
          <p:cNvSpPr txBox="1"/>
          <p:nvPr/>
        </p:nvSpPr>
        <p:spPr>
          <a:xfrm>
            <a:off x="762000" y="2765332"/>
            <a:ext cx="76223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– Food Delivery App (like Swiggy/Zomato)</a:t>
            </a:r>
          </a:p>
          <a:p>
            <a:r>
              <a:rPr lang="en-IN" b="1" dirty="0"/>
              <a:t>In Scope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registration/login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Browse restaurants and menus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Cart &amp; online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dashboard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8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38F724-6F6A-F423-24FB-0C7DA4BD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412100-430F-93B4-BA07-68AE5153A5D7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5D09CB8-E6DF-76BA-6395-C30399ADCD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C7B51D7-9CAC-CA87-9184-C10C48809EEF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F3A96-11F5-6710-79E5-AE19D61E7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Feasibility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C2AC634-E748-8A94-D59D-6D434B7CD36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E59682-18B2-AF9B-C333-0E01E9764B5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602046-BF36-D109-1658-3F71E9FD791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003A5D2-6CE3-9D2B-E24A-C17ABB31B45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80816-FB1B-644B-59E9-23F4C3543671}"/>
              </a:ext>
            </a:extLst>
          </p:cNvPr>
          <p:cNvSpPr txBox="1"/>
          <p:nvPr/>
        </p:nvSpPr>
        <p:spPr>
          <a:xfrm>
            <a:off x="838200" y="2850617"/>
            <a:ext cx="7622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Feasibility</a:t>
            </a:r>
            <a:r>
              <a:rPr lang="en-US" dirty="0"/>
              <a:t> means checking whether a project </a:t>
            </a:r>
            <a:r>
              <a:rPr lang="en-US" b="1" dirty="0"/>
              <a:t>can be done successfully</a:t>
            </a:r>
            <a:r>
              <a:rPr lang="en-US" dirty="0"/>
              <a:t> with the available </a:t>
            </a:r>
            <a:r>
              <a:rPr lang="en-US" b="1" dirty="0"/>
              <a:t>time, money, resources, technology, and skills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helps decide if the project is </a:t>
            </a:r>
            <a:r>
              <a:rPr lang="en-US" b="1" dirty="0"/>
              <a:t>realistic</a:t>
            </a:r>
            <a:r>
              <a:rPr lang="en-US" dirty="0"/>
              <a:t>, </a:t>
            </a:r>
            <a:r>
              <a:rPr lang="en-US" b="1" dirty="0"/>
              <a:t>practical</a:t>
            </a:r>
            <a:r>
              <a:rPr lang="en-US" dirty="0"/>
              <a:t>, and </a:t>
            </a:r>
            <a:r>
              <a:rPr lang="en-US" b="1" dirty="0"/>
              <a:t>worth doing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319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BC8D3F-8A9A-B5E1-8CED-52800BBC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EC766FA-2DA2-AA65-07FC-8E2851EED85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B090E19-B4FD-729A-AA19-1044EEDC11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CA1565-3A5A-8AD6-4768-A3C9101078F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5C746C3-D07C-934F-15FB-CED03233C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Feasibility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32E9B0-4240-9559-2A63-6A303C66205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1258B04-E349-1617-B7D8-5DA7C743D62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B96A13-711E-C19A-70F8-8B650C62ACA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96A9F4FE-EED9-0618-BA96-2CAED928DAD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E534F-DE41-43B8-3480-D39CFC91276F}"/>
              </a:ext>
            </a:extLst>
          </p:cNvPr>
          <p:cNvSpPr txBox="1"/>
          <p:nvPr/>
        </p:nvSpPr>
        <p:spPr>
          <a:xfrm>
            <a:off x="838200" y="2850617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1: Building a Mobile App</a:t>
            </a:r>
          </a:p>
          <a:p>
            <a:endParaRPr lang="en-US" b="1" dirty="0"/>
          </a:p>
          <a:p>
            <a:r>
              <a:rPr lang="en-US" dirty="0"/>
              <a:t>Before creating a mobile app, you check: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we have skilled developers? (Technical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we have enough budget? (Economic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it be completed in 3 months? (Schedule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allowed by law? (Legal feasibility)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If all answers are YES → </a:t>
            </a:r>
            <a:r>
              <a:rPr lang="en-US" b="1" dirty="0"/>
              <a:t>the project is feasible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not → the project may fail.</a:t>
            </a:r>
          </a:p>
        </p:txBody>
      </p:sp>
    </p:spTree>
    <p:extLst>
      <p:ext uri="{BB962C8B-B14F-4D97-AF65-F5344CB8AC3E}">
        <p14:creationId xmlns:p14="http://schemas.microsoft.com/office/powerpoint/2010/main" val="77015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F4A3F8-F362-04BE-8AE9-9CCC99BB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E3E69D3-7D9D-2504-1A7A-02BBD0F7435E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45DFD6-C532-13D9-E7E2-CAEB7FBE308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3AC1AC-050E-B825-3CD2-53561470A12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5A176E3-17E5-9DBD-AC13-B9E7D9496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Effort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0BC6FF-7AA3-2B26-052B-843C2DA3F1F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5A2C8F-496B-6E08-A4D5-BDC163B8C68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24B43D-11E2-9DDF-96F0-54257725445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FE386E75-C621-541C-A3D5-5D292B0002F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25268-50F0-9906-D96C-EFACEC6BA657}"/>
              </a:ext>
            </a:extLst>
          </p:cNvPr>
          <p:cNvSpPr txBox="1"/>
          <p:nvPr/>
        </p:nvSpPr>
        <p:spPr>
          <a:xfrm>
            <a:off x="762000" y="2765332"/>
            <a:ext cx="7622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Effort estimation predicts: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much work</a:t>
            </a:r>
            <a:r>
              <a:rPr lang="en-US" dirty="0"/>
              <a:t> is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many people</a:t>
            </a:r>
            <a:r>
              <a:rPr lang="en-US" dirty="0"/>
              <a:t> are needed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How long</a:t>
            </a:r>
            <a:r>
              <a:rPr lang="en-US" dirty="0"/>
              <a:t> the project will take</a:t>
            </a:r>
          </a:p>
        </p:txBody>
      </p:sp>
    </p:spTree>
    <p:extLst>
      <p:ext uri="{BB962C8B-B14F-4D97-AF65-F5344CB8AC3E}">
        <p14:creationId xmlns:p14="http://schemas.microsoft.com/office/powerpoint/2010/main" val="3332087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E3F4DF-DACB-A315-4100-F20FB8B0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B7CB09-83F9-E899-8B8F-23002E81BAB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E330F78-D1BA-97EB-4B61-5FD4E653A8A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251A0A-D1E2-0077-1D51-8354A4EECD1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39141B7-4958-56FE-8505-837EAD5A78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Popular Estimation Techniques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3565A0-B028-8275-B5BC-8F67278BE12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70E0C18-C974-DEC8-37C8-80A83961505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9EE11A-5146-7742-B62C-F0E284105D0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852B89D-A491-454D-93D7-B35FF4E8DC5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26094-1D72-DAB6-8662-BFE5D62A7640}"/>
              </a:ext>
            </a:extLst>
          </p:cNvPr>
          <p:cNvSpPr txBox="1"/>
          <p:nvPr/>
        </p:nvSpPr>
        <p:spPr>
          <a:xfrm>
            <a:off x="749866" y="2586524"/>
            <a:ext cx="7622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Expert Judgment</a:t>
            </a:r>
          </a:p>
          <a:p>
            <a:r>
              <a:rPr lang="en-US" dirty="0"/>
              <a:t>Based on senior developers or architects' experience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“This login module will take around 3 days based on previous projects.”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2. Work Breakdown Structure (WBS)</a:t>
            </a:r>
          </a:p>
          <a:p>
            <a:r>
              <a:rPr lang="en-US" dirty="0"/>
              <a:t>Break project into </a:t>
            </a:r>
            <a:r>
              <a:rPr lang="en-US" b="1" dirty="0"/>
              <a:t>small tasks</a:t>
            </a:r>
            <a:r>
              <a:rPr lang="en-US" dirty="0"/>
              <a:t> → estimate each.</a:t>
            </a:r>
            <a:br>
              <a:rPr lang="en-US" dirty="0"/>
            </a:br>
            <a:r>
              <a:rPr lang="en-US" b="1" dirty="0"/>
              <a:t>Example – E-commerce Website</a:t>
            </a:r>
            <a:endParaRPr lang="en-US" dirty="0"/>
          </a:p>
          <a:p>
            <a:r>
              <a:rPr lang="en-US" dirty="0"/>
              <a:t>UI Design – 40 hours</a:t>
            </a:r>
          </a:p>
          <a:p>
            <a:r>
              <a:rPr lang="en-US" dirty="0"/>
              <a:t>Backend APIs – 120 hours</a:t>
            </a:r>
          </a:p>
          <a:p>
            <a:r>
              <a:rPr lang="en-US" dirty="0"/>
              <a:t>Database design – 20 hours</a:t>
            </a:r>
          </a:p>
          <a:p>
            <a:r>
              <a:rPr lang="en-US" dirty="0"/>
              <a:t>Testing – 50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6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37EE11-1EF0-A251-7E70-B51B316D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49F429A-8B8E-0F9D-95FA-63AB8395AA5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99BB42B-A29C-00E8-4080-3A5DAB3F858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AEC5C8-A515-5FE7-7A57-B2E2AF25BD0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180F549-2581-9BDB-E1B2-84AEBC0E9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Popular Estimation Techniques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B31D5F-16F7-B5D8-9280-ADE8F811CC2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1369E8F-26A9-9226-D41A-554C72D853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BD1755-82B3-047C-8F40-CD2604BE4E3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2703B58-D1C6-729D-DABF-23F1CF7858EA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1219C-9D97-1540-139A-886EB53A3884}"/>
              </a:ext>
            </a:extLst>
          </p:cNvPr>
          <p:cNvSpPr txBox="1"/>
          <p:nvPr/>
        </p:nvSpPr>
        <p:spPr>
          <a:xfrm>
            <a:off x="749866" y="2586524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Use Case Point (UCP)</a:t>
            </a:r>
          </a:p>
          <a:p>
            <a:r>
              <a:rPr lang="en-US" dirty="0"/>
              <a:t>Based on complexity of use cases.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Login (simple), Payment (complex), Order tracking (medium)</a:t>
            </a:r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4. Function Point Analysis (FPA)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5. COCOMO Model (Constructive Cost Model)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6632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162A9E-ECDF-EC42-2D63-FF43CED3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E1AFEB1-5EB8-27EA-9237-722850A9DA40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BD171A-F16F-D2B3-B5FC-1E1E0C34A7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16F62A0-2F0E-3848-57BB-D74005550E2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8F0F52F-0483-89A9-D363-47823A952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COCOMO Model (Constructive Cost Model)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C85332-E7F4-74CA-9DE3-688EF4CC954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1BF9DA8-92DD-D2B3-5BB9-7F6555D48C9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192A8B-A65B-2797-62CE-C1A23DD4379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7F7F0E5-15AD-5055-09B9-E1BBCCE01D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45C48-2259-1641-AB52-817D0E685F69}"/>
              </a:ext>
            </a:extLst>
          </p:cNvPr>
          <p:cNvSpPr txBox="1"/>
          <p:nvPr/>
        </p:nvSpPr>
        <p:spPr>
          <a:xfrm>
            <a:off x="749866" y="2586524"/>
            <a:ext cx="78607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COCOMO is a </a:t>
            </a:r>
            <a:r>
              <a:rPr lang="en-US" b="1" dirty="0"/>
              <a:t>software estimation model developed by Barry Boehm</a:t>
            </a:r>
            <a:r>
              <a:rPr lang="en-US" dirty="0"/>
              <a:t> used to estimate: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Effort</a:t>
            </a:r>
            <a:r>
              <a:rPr lang="en-US" dirty="0"/>
              <a:t> (person-months)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Development time</a:t>
            </a:r>
            <a:r>
              <a:rPr lang="en-US" dirty="0"/>
              <a:t> (schedule)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Staffing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Project cost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COCOMO uses the </a:t>
            </a:r>
            <a:r>
              <a:rPr lang="en-US" b="1" dirty="0"/>
              <a:t>size of the software</a:t>
            </a:r>
            <a:r>
              <a:rPr lang="en-US" dirty="0"/>
              <a:t> (measured in KLOC = Thousands of Lines of Code) to determine the effort required.</a:t>
            </a:r>
          </a:p>
        </p:txBody>
      </p:sp>
    </p:spTree>
    <p:extLst>
      <p:ext uri="{BB962C8B-B14F-4D97-AF65-F5344CB8AC3E}">
        <p14:creationId xmlns:p14="http://schemas.microsoft.com/office/powerpoint/2010/main" val="1752732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4520E1-681C-8177-56C4-4A7FD240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75DAAE5-47B7-347C-78B6-AE72EF1BCFAC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B48E161-AE44-C696-EE8A-733B210D2A9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34EA37-AED0-1707-AB53-AE4608C2268A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220CFA-7443-8C93-A261-82DC2B410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COCOMO Model (Constructive Cost Model)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DC0C2D-5B3A-90A1-041F-A07ECD78DF6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9B51A2-3917-53C8-F1D4-38AEA487919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AAE3D7-563E-6E4D-A5AF-3C3FB5B2033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D668CA4-7808-CF21-EBA3-75FD3CC4459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43B3C-DC2C-678F-2A49-93B50521ACF3}"/>
              </a:ext>
            </a:extLst>
          </p:cNvPr>
          <p:cNvSpPr txBox="1"/>
          <p:nvPr/>
        </p:nvSpPr>
        <p:spPr>
          <a:xfrm>
            <a:off x="749866" y="2586524"/>
            <a:ext cx="7860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COCOMO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AB1089-69DF-C840-FD32-C6C902184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970517"/>
              </p:ext>
            </p:extLst>
          </p:nvPr>
        </p:nvGraphicFramePr>
        <p:xfrm>
          <a:off x="731429" y="3429000"/>
          <a:ext cx="7396162" cy="201168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696371391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165537755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790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Basic COCOMO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Estimates effort based only on size (KLOC)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77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Intermediate COCOMO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Considers size + cost drivers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028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Detailed COCOMO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Considers size + cost drivers + phase-wise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80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498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66FC72-651F-1A2D-3DBD-55055C40B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929FCE1-039B-A277-E34A-25B782B5924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2CCEEDF-664C-1F4A-1C85-85B95EDC452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9D54787-AFAE-0C5B-9E53-E7C5FF117F2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363A117-0CCD-FE8A-EDF9-8296AACB9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Basic COCOMO Model Formula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142CEC-2AC6-35DD-A83E-C461B9615A3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0C2DF85-4D11-9BB1-58DD-FD5C17B9C8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4AFB8B-09E5-42BE-8FE6-7E7F6C9EB7F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3DF7D03-D7AD-FF1F-D0E3-E71EB34C0C4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F5B30-065F-2777-DD8E-99CEBB52CA7E}"/>
                  </a:ext>
                </a:extLst>
              </p:cNvPr>
              <p:cNvSpPr txBox="1"/>
              <p:nvPr/>
            </p:nvSpPr>
            <p:spPr>
              <a:xfrm>
                <a:off x="698435" y="2298400"/>
                <a:ext cx="7860734" cy="42100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Effort (E)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>
                          <a:solidFill>
                            <a:srgbClr val="FF0000"/>
                          </a:solidFill>
                        </a:rPr>
                        <m:t>Effort</m:t>
                      </m:r>
                      <m:r>
                        <m:rPr>
                          <m:nor/>
                        </m:rPr>
                        <a:rPr lang="en-US" b="1" smtClean="0"/>
                        <m:t> = </m:t>
                      </m:r>
                      <m:r>
                        <m:rPr>
                          <m:nor/>
                        </m:rPr>
                        <a:rPr lang="en-US" b="1" smtClean="0"/>
                        <m:t>a</m:t>
                      </m:r>
                      <m:r>
                        <m:rPr>
                          <m:nor/>
                        </m:rPr>
                        <a:rPr lang="en-US" b="1" smtClean="0"/>
                        <m:t>1 </m:t>
                      </m:r>
                      <m:r>
                        <m:rPr>
                          <m:nor/>
                        </m:rPr>
                        <a:rPr lang="en-US" b="1" smtClean="0"/>
                        <m:t>∗ </m:t>
                      </m:r>
                      <m:r>
                        <m:rPr>
                          <m:nor/>
                        </m:rPr>
                        <a:rPr lang="en-US" b="1" smtClean="0"/>
                        <m:t>(</m:t>
                      </m:r>
                      <m:r>
                        <m:rPr>
                          <m:nor/>
                        </m:rPr>
                        <a:rPr lang="en-US" b="1" smtClean="0"/>
                        <m:t>KLOC</m:t>
                      </m:r>
                      <m:r>
                        <m:rPr>
                          <m:nor/>
                        </m:rPr>
                        <a:rPr lang="en-US" b="1" smtClean="0"/>
                        <m:t>)^</m:t>
                      </m:r>
                      <m:r>
                        <m:rPr>
                          <m:nor/>
                        </m:rPr>
                        <a:rPr lang="en-US" b="1" i="0" smtClean="0"/>
                        <m:t>a</m:t>
                      </m:r>
                      <m:r>
                        <m:rPr>
                          <m:nor/>
                        </m:rPr>
                        <a:rPr lang="en-US" b="1" smtClean="0"/>
                        <m:t>2 </m:t>
                      </m:r>
                      <m:r>
                        <m:rPr>
                          <m:nor/>
                        </m:rPr>
                        <a:rPr lang="en-US" b="1" smtClean="0"/>
                        <m:t>PM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E → Effort</a:t>
                </a:r>
                <a:r>
                  <a:rPr lang="en-IN" dirty="0"/>
                  <a:t> in Person-Months</a:t>
                </a:r>
              </a:p>
              <a:p>
                <a:r>
                  <a:rPr lang="en-IN" b="1" dirty="0"/>
                  <a:t>KLOC → </a:t>
                </a:r>
                <a:r>
                  <a:rPr lang="en-IN" dirty="0"/>
                  <a:t>Thousands of Lines of Code</a:t>
                </a:r>
              </a:p>
              <a:p>
                <a:r>
                  <a:rPr lang="en-IN" b="1" dirty="0"/>
                  <a:t>a1, a2 → </a:t>
                </a:r>
                <a:r>
                  <a:rPr lang="en-IN" dirty="0"/>
                  <a:t>constants based on project type</a:t>
                </a:r>
              </a:p>
              <a:p>
                <a:endParaRPr lang="en-IN" dirty="0"/>
              </a:p>
              <a:p>
                <a:r>
                  <a:rPr lang="en-IN" b="1" dirty="0"/>
                  <a:t>Development Time (D)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>
                          <a:solidFill>
                            <a:srgbClr val="FF0000"/>
                          </a:solidFill>
                        </a:rPr>
                        <m:t>Tdev</m:t>
                      </m:r>
                      <m:r>
                        <m:rPr>
                          <m:nor/>
                        </m:rPr>
                        <a:rPr lang="en-US" b="1" smtClean="0"/>
                        <m:t> = </m:t>
                      </m:r>
                      <m:r>
                        <m:rPr>
                          <m:nor/>
                        </m:rPr>
                        <a:rPr lang="en-US" b="1" smtClean="0"/>
                        <m:t>b</m:t>
                      </m:r>
                      <m:r>
                        <m:rPr>
                          <m:nor/>
                        </m:rPr>
                        <a:rPr lang="en-US" b="1" smtClean="0"/>
                        <m:t>₁ </m:t>
                      </m:r>
                      <m:r>
                        <m:rPr>
                          <m:nor/>
                        </m:rPr>
                        <a:rPr lang="en-US" b="1" smtClean="0"/>
                        <m:t>×</m:t>
                      </m:r>
                      <m:r>
                        <m:rPr>
                          <m:nor/>
                        </m:rPr>
                        <a:rPr lang="en-US" b="1" smtClean="0"/>
                        <m:t> (</m:t>
                      </m:r>
                      <m:r>
                        <m:rPr>
                          <m:nor/>
                        </m:rPr>
                        <a:rPr lang="en-US" b="1" smtClean="0"/>
                        <m:t>Effort</m:t>
                      </m:r>
                      <m:r>
                        <m:rPr>
                          <m:nor/>
                        </m:rPr>
                        <a:rPr lang="en-US" b="1" smtClean="0"/>
                        <m:t>)^</m:t>
                      </m:r>
                      <m:r>
                        <m:rPr>
                          <m:nor/>
                        </m:rPr>
                        <a:rPr lang="en-US" b="1" smtClean="0"/>
                        <m:t>b</m:t>
                      </m:r>
                      <m:r>
                        <m:rPr>
                          <m:nor/>
                        </m:rPr>
                        <a:rPr lang="en-US" b="1" smtClean="0"/>
                        <m:t>2 </m:t>
                      </m:r>
                      <m:r>
                        <m:rPr>
                          <m:nor/>
                        </m:rPr>
                        <a:rPr lang="en-US" b="1" smtClean="0"/>
                        <m:t>Months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b="1" dirty="0" err="1"/>
                  <a:t>Tdev</a:t>
                </a:r>
                <a:r>
                  <a:rPr lang="en-US" dirty="0"/>
                  <a:t> is the estimated time to develop the software, expressed in months </a:t>
                </a:r>
                <a:r>
                  <a:rPr lang="en-IN" b="1" dirty="0"/>
                  <a:t>b1, b2 → </a:t>
                </a:r>
                <a:r>
                  <a:rPr lang="en-IN" dirty="0"/>
                  <a:t>constants based on project type</a:t>
                </a:r>
              </a:p>
              <a:p>
                <a:endParaRPr lang="en-IN" dirty="0"/>
              </a:p>
              <a:p>
                <a:r>
                  <a:rPr lang="en-IN" b="1" dirty="0"/>
                  <a:t>Staffing (P)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F5B30-065F-2777-DD8E-99CEBB52C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5" y="2298400"/>
                <a:ext cx="7860734" cy="4210063"/>
              </a:xfrm>
              <a:prstGeom prst="rect">
                <a:avLst/>
              </a:prstGeom>
              <a:blipFill>
                <a:blip r:embed="rId4"/>
                <a:stretch>
                  <a:fillRect l="-698" t="-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3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742541-9247-C5B5-8F86-3FADD6B0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7CA1A4C-15BB-CE74-CFB2-F6178199918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F4DB62E-78E5-266D-B32D-245D5E4F5D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72FE98E-0D48-942C-1FD7-E4D9843DCA8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774CD5E-CC43-067A-2F9F-21C8D75425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Software Development Project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E73D85-EFBF-B340-10CB-BA15B712D64D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2AFCDAC-180E-44EB-352F-18A864B5A4D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0E0DA8-58F5-7FEC-7294-39B837BBDE7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C25D35A3-FFB2-9A75-8DB5-4EB25817E03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B59B62-7F32-FFFE-F058-0156A829A5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27"/>
          <a:stretch>
            <a:fillRect/>
          </a:stretch>
        </p:blipFill>
        <p:spPr>
          <a:xfrm>
            <a:off x="609600" y="2779023"/>
            <a:ext cx="8125959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90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6716FD-5188-1889-C80B-16D21F02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B7F95B-EEFF-C35C-A5C7-54511BE2267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FF7EB98-1ECD-ADC6-1E1E-4B8189AA1C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D34844-FC43-3752-285A-21239C35FD8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B0D8BE9-70A9-7628-8D7A-D08A46DCB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4000" y="1709457"/>
            <a:ext cx="96515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2670" algn="l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Software Development Project </a:t>
            </a:r>
            <a:endParaRPr spc="-1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F95974-0B8A-AA72-665F-3F16D2C78C8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75C1851-02DC-2633-2198-2713ACED3FF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852119-3051-1BC5-C5DA-63C8B5EDF80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2170362-CE5D-CAE5-43FE-F1F90AABD73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A20BE-6FBC-9F45-1D8E-E8CAA53D8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54"/>
          <a:stretch>
            <a:fillRect/>
          </a:stretch>
        </p:blipFill>
        <p:spPr>
          <a:xfrm>
            <a:off x="122101" y="2314314"/>
            <a:ext cx="8899797" cy="41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6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1E17B3-CFEB-08BD-9C2C-F5C2F547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6CEB23A-5EF2-BF58-8D40-4A33BE3F9AF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B0C0B25-BF79-F5C8-DFED-7A7072D2A6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9AB0B0-19B7-546D-8337-B3F3DE9B705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B053EF0-08BF-F87A-6B9C-118F91245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09457"/>
            <a:ext cx="7670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Basic COCOMO Model Formula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9E1A14-0974-6E06-1C5A-41A390A9FE3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1C8F26-0215-3FFB-12C8-D5ED5C2FD1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2599AB-80C7-AFBE-AFDF-6BEF75B1234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6F2802A-3EF7-FB56-E36E-A7EA7A21E43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33ED900-62AA-E7FD-0A82-AB5EB3AC6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566534"/>
            <a:ext cx="688857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Types and Constants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EC2283-1BC3-D85A-4638-070527A74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27" y="3065027"/>
            <a:ext cx="6553200" cy="255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34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27965B-707B-8774-150D-D7715C8E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6AEBB3B-7DA0-2F34-B6DC-20012E45BEF4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47859CC-4775-0CBB-3AE9-592FC6DCCD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37104A-24EA-2CFD-91B2-73E1B257D38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764D2A3-41CA-1BA6-8AB6-2E0A9EFED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1709457"/>
            <a:ext cx="75941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Real-Time Example – Basic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463282-E9F3-DFBC-086B-8E3006795EC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894448-4682-5D70-C72D-E330393CF0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33B1FD-04A3-4DC2-8804-594EE661A2C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DC5DD11-61C0-508C-D19F-25AB0D36FDA3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4274A6-6B5E-6597-2ED8-F9D7ED731448}"/>
                  </a:ext>
                </a:extLst>
              </p:cNvPr>
              <p:cNvSpPr txBox="1"/>
              <p:nvPr/>
            </p:nvSpPr>
            <p:spPr>
              <a:xfrm>
                <a:off x="990600" y="2610148"/>
                <a:ext cx="7241356" cy="3841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Project: Online Ticket Booking Website</a:t>
                </a:r>
              </a:p>
              <a:p>
                <a:r>
                  <a:rPr lang="en-US" b="1" dirty="0"/>
                  <a:t>Estimated Size: 50 KLOC</a:t>
                </a:r>
              </a:p>
              <a:p>
                <a:r>
                  <a:rPr lang="en-US" b="1" dirty="0"/>
                  <a:t>Project Type: Organic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IN" b="1" dirty="0"/>
                  <a:t>Step 1: Calculate Effort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50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05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b="0" i="1" smtClean="0"/>
                        <m:t>46</m:t>
                      </m:r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person</m:t>
                      </m:r>
                      <m:r>
                        <m:rPr>
                          <m:nor/>
                        </m:rPr>
                        <a:rPr lang="en-IN" i="1"/>
                        <m:t>−</m:t>
                      </m:r>
                      <m:r>
                        <m:rPr>
                          <m:nor/>
                        </m:rPr>
                        <a:rPr lang="en-IN" i="1"/>
                        <m:t>months</m:t>
                      </m:r>
                    </m:oMath>
                  </m:oMathPara>
                </a14:m>
                <a:endParaRPr lang="en-IN" b="0" dirty="0"/>
              </a:p>
              <a:p>
                <a:endParaRPr lang="en-IN" b="0" dirty="0"/>
              </a:p>
              <a:p>
                <a:r>
                  <a:rPr lang="en-IN" b="1" dirty="0"/>
                  <a:t>Effort = </a:t>
                </a:r>
                <a:r>
                  <a:rPr lang="en-IN" dirty="0"/>
                  <a:t>146 Person-Months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4274A6-6B5E-6597-2ED8-F9D7ED73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610148"/>
                <a:ext cx="7241356" cy="3841180"/>
              </a:xfrm>
              <a:prstGeom prst="rect">
                <a:avLst/>
              </a:prstGeom>
              <a:blipFill>
                <a:blip r:embed="rId4"/>
                <a:stretch>
                  <a:fillRect l="-758" t="-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866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E3025E-F118-92BB-71EB-65D2E5F8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E8E5F77-F302-4AE4-E552-D58D5C97600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EB88E3B-CF19-2109-3523-BAA2155DF1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5F91D4-877E-18FA-0937-3662C73DEC6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7C75486-60BE-1BD9-29A1-B54D9E777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1709457"/>
            <a:ext cx="75941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Real-Time Example – Basic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23F0F8-4D5A-6DCA-E648-B4EF17C2D2E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EB32DEB-EFAB-8ABF-A97B-1891E5B6BC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CF3A94-2F97-479A-E7A2-75F0B850A1B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BE875C52-38C7-EEB4-F7BF-3D8915B7557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864F22-CB64-F4CB-1499-6F7A538E7BC0}"/>
                  </a:ext>
                </a:extLst>
              </p:cNvPr>
              <p:cNvSpPr txBox="1"/>
              <p:nvPr/>
            </p:nvSpPr>
            <p:spPr>
              <a:xfrm>
                <a:off x="1066800" y="2550360"/>
                <a:ext cx="7241356" cy="3803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Step 2: Calculate Development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38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IN" i="1"/>
                        <m:t>months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Time = </a:t>
                </a:r>
                <a:r>
                  <a:rPr lang="en-IN" dirty="0"/>
                  <a:t>16.5 months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r>
                  <a:rPr lang="en-IN" b="1" dirty="0"/>
                  <a:t>Step 3: Calculate Staffing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Team Required ≈ 9 Developers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864F22-CB64-F4CB-1499-6F7A538E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50360"/>
                <a:ext cx="7241356" cy="3803542"/>
              </a:xfrm>
              <a:prstGeom prst="rect">
                <a:avLst/>
              </a:prstGeom>
              <a:blipFill>
                <a:blip r:embed="rId4"/>
                <a:stretch>
                  <a:fillRect l="-673" t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2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E42ED6-9C9E-BEB3-9E6E-E843A8F0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8ADB13C-7502-208A-E81F-EAC3824A2A8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359776C-8BD9-CBAE-B0B6-C05C43B5E3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9DDECD-D0C9-6578-752F-5501B68F654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D4D4C95-27F4-4349-A633-36C175921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Intermediate COCOMO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C83D84-31A7-115C-0510-32583977D5C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D4D56F9-268D-26B2-0E59-04BDA49CFC3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1B42866-A7FD-F91D-71B9-4F64E9D554B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0988332-1B82-2052-1D23-3F4123C8DC6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B9C820-7C4A-738C-8A7A-8B612881216A}"/>
                  </a:ext>
                </a:extLst>
              </p:cNvPr>
              <p:cNvSpPr txBox="1"/>
              <p:nvPr/>
            </p:nvSpPr>
            <p:spPr>
              <a:xfrm>
                <a:off x="1143000" y="2765332"/>
                <a:ext cx="7241356" cy="3186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𝐾𝐿𝑂𝐶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𝐸𝐴𝐹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ar-AE" dirty="0"/>
              </a:p>
              <a:p>
                <a:r>
                  <a:rPr lang="en-IN" dirty="0"/>
                  <a:t>Where:</a:t>
                </a:r>
              </a:p>
              <a:p>
                <a:r>
                  <a:rPr lang="en-IN" b="1" dirty="0"/>
                  <a:t>EAF = Effort Adjustment Factor</a:t>
                </a:r>
                <a:r>
                  <a:rPr lang="en-IN" dirty="0"/>
                  <a:t> (product of cost drivers)</a:t>
                </a:r>
              </a:p>
              <a:p>
                <a:r>
                  <a:rPr lang="en-IN" dirty="0"/>
                  <a:t>Cost drivers include:</a:t>
                </a:r>
              </a:p>
              <a:p>
                <a:pPr lvl="1"/>
                <a:r>
                  <a:rPr lang="en-IN" dirty="0"/>
                  <a:t>Product complexity</a:t>
                </a:r>
              </a:p>
              <a:p>
                <a:pPr lvl="1"/>
                <a:r>
                  <a:rPr lang="en-IN" dirty="0"/>
                  <a:t>Required reliability</a:t>
                </a:r>
              </a:p>
              <a:p>
                <a:pPr lvl="1"/>
                <a:r>
                  <a:rPr lang="en-IN" dirty="0"/>
                  <a:t>Team experience</a:t>
                </a:r>
              </a:p>
              <a:p>
                <a:pPr lvl="1"/>
                <a:r>
                  <a:rPr lang="en-IN" dirty="0"/>
                  <a:t>Tools used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B9C820-7C4A-738C-8A7A-8B6128812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765332"/>
                <a:ext cx="7241356" cy="3186642"/>
              </a:xfrm>
              <a:prstGeom prst="rect">
                <a:avLst/>
              </a:prstGeom>
              <a:blipFill>
                <a:blip r:embed="rId4"/>
                <a:stretch>
                  <a:fillRect l="-758" t="-10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617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E4F397-4949-3E2E-E5D1-650E2850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14C500B-DC5F-213E-F026-09848F92219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2DF0B9-AAB4-FCD3-134A-F0A38E8B10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E95CFD-B9C9-3D84-A6F7-243B39DB49F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FE51266-F6E3-BC27-13EF-A5CE513AB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236" y="1709457"/>
            <a:ext cx="7241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Detailed / Complete COCOMO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4AA38E-0E6E-6C7B-B16C-F30A030A833B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EA2EDC4-13CA-351A-E2D2-55425B20B2E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052357-02AC-6303-3F8C-59E9E7ECB7B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7AEAD89-5F2E-A847-1C4D-111ED0E391ED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F9701-1C21-BC13-892D-74028B4597CF}"/>
              </a:ext>
            </a:extLst>
          </p:cNvPr>
          <p:cNvSpPr txBox="1"/>
          <p:nvPr/>
        </p:nvSpPr>
        <p:spPr>
          <a:xfrm>
            <a:off x="762000" y="2765332"/>
            <a:ext cx="76223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incorporates all qualities of both Basic COCOMO and Intermediate COCOMO strategies on each software engineering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whole software is divided into different modules, and then apply COCOMO in different modules to estimate effort and then sum the effort.</a:t>
            </a:r>
          </a:p>
        </p:txBody>
      </p:sp>
    </p:spTree>
    <p:extLst>
      <p:ext uri="{BB962C8B-B14F-4D97-AF65-F5344CB8AC3E}">
        <p14:creationId xmlns:p14="http://schemas.microsoft.com/office/powerpoint/2010/main" val="3117797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B6D477-C8BE-1518-42D2-90C2C5C4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34F4C03-ECC0-07B2-FD75-7369F05FC83C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6DFDD4E-722E-9215-91CD-2F842F7FC82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14FC3FB-8440-054A-3045-8A9EDAD7AEF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0C819D-1847-F85A-28FC-B61B637383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236" y="1709457"/>
            <a:ext cx="72413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Detailed / Complete COCOMO Model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B246B1-BFF0-1D84-7743-FCCC83C2A0D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99E6F75-34E6-1BCB-C344-8ECCE09C98C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223D82-BEEF-603A-1037-43833B4BB2F8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E805C17F-8868-A30C-C7C5-B98CEF648A47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550F5-5BCF-0180-4487-9CDE0F16740D}"/>
              </a:ext>
            </a:extLst>
          </p:cNvPr>
          <p:cNvSpPr txBox="1"/>
          <p:nvPr/>
        </p:nvSpPr>
        <p:spPr>
          <a:xfrm>
            <a:off x="762000" y="2765332"/>
            <a:ext cx="76223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Six phases of detailed COCOMO are:</a:t>
            </a:r>
          </a:p>
          <a:p>
            <a:pPr marL="342900" indent="-342900">
              <a:buAutoNum type="arabicPeriod"/>
            </a:pPr>
            <a:r>
              <a:rPr lang="en-US" dirty="0"/>
              <a:t>Planning and requirements</a:t>
            </a:r>
          </a:p>
          <a:p>
            <a:pPr marL="342900" indent="-342900">
              <a:buAutoNum type="arabicPeriod"/>
            </a:pPr>
            <a:r>
              <a:rPr lang="en-US" dirty="0"/>
              <a:t>System design</a:t>
            </a:r>
          </a:p>
          <a:p>
            <a:pPr marL="342900" indent="-342900">
              <a:buAutoNum type="arabicPeriod"/>
            </a:pPr>
            <a:r>
              <a:rPr lang="en-US" dirty="0"/>
              <a:t>Detailed design</a:t>
            </a:r>
          </a:p>
          <a:p>
            <a:pPr marL="342900" indent="-342900">
              <a:buAutoNum type="arabicPeriod"/>
            </a:pPr>
            <a:r>
              <a:rPr lang="en-US" dirty="0"/>
              <a:t>Module code and test</a:t>
            </a:r>
          </a:p>
          <a:p>
            <a:pPr marL="342900" indent="-342900">
              <a:buAutoNum type="arabicPeriod"/>
            </a:pPr>
            <a:r>
              <a:rPr lang="en-US" dirty="0"/>
              <a:t>Integration and test</a:t>
            </a:r>
          </a:p>
          <a:p>
            <a:pPr marL="342900" indent="-342900">
              <a:buAutoNum type="arabicPeriod"/>
            </a:pPr>
            <a:r>
              <a:rPr lang="en-US" dirty="0"/>
              <a:t>Cost Constructive model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(Useful for large enterprise-level projects like banking systems.)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73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3078A7-8068-9F35-789E-1B9665145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6936724-509B-E4BC-6EEF-02428DF3C14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7FB8D8D-40D2-F290-021D-5528459024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78A79A-7D3D-42BD-D5CD-1911B93A0A4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EC39A0-C6B4-7A13-F0EF-DC2B91AD6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2B0F64-1BEA-8C93-059E-E3328628B33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2ADB2D-1E1F-36E9-1B2A-A969D831767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85C632-4C1B-5E5E-A6A4-6F8F3ADDC09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9F093FF-A8EF-7B7B-4106-166C22DCD7C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52926-1254-087E-B11E-BFF343FB3221}"/>
              </a:ext>
            </a:extLst>
          </p:cNvPr>
          <p:cNvSpPr txBox="1"/>
          <p:nvPr/>
        </p:nvSpPr>
        <p:spPr>
          <a:xfrm>
            <a:off x="838200" y="2765332"/>
            <a:ext cx="75461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Point Analysis is a </a:t>
            </a:r>
            <a:r>
              <a:rPr lang="en-US" b="1" dirty="0"/>
              <a:t>standard method to measure the functionality of software</a:t>
            </a:r>
            <a:r>
              <a:rPr lang="en-US" dirty="0"/>
              <a:t> from the user’s perspective.</a:t>
            </a:r>
          </a:p>
          <a:p>
            <a:endParaRPr lang="en-US" dirty="0"/>
          </a:p>
          <a:p>
            <a:r>
              <a:rPr lang="en-US" dirty="0"/>
              <a:t>Unlike COCOMO, FPA does </a:t>
            </a:r>
            <a:r>
              <a:rPr lang="en-US" b="1" dirty="0"/>
              <a:t>NOT</a:t>
            </a:r>
            <a:r>
              <a:rPr lang="en-US" dirty="0"/>
              <a:t> depend on lines of code.</a:t>
            </a:r>
          </a:p>
          <a:p>
            <a:endParaRPr lang="en-US" dirty="0"/>
          </a:p>
          <a:p>
            <a:r>
              <a:rPr lang="en-US" dirty="0"/>
              <a:t>It measures: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User interactions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External interfaces</a:t>
            </a:r>
          </a:p>
        </p:txBody>
      </p:sp>
    </p:spTree>
    <p:extLst>
      <p:ext uri="{BB962C8B-B14F-4D97-AF65-F5344CB8AC3E}">
        <p14:creationId xmlns:p14="http://schemas.microsoft.com/office/powerpoint/2010/main" val="93272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EF441B-9BCA-8E5C-4785-607C9010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A9F0E6-BAB0-525D-C220-BC63D16E3E36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DE2C6CF-C83F-59E9-EE8C-8CFACB3117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6429E1-E5EA-4F0A-FDDE-4B8DA202698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8A7365F-F320-57BD-521F-77C5F78EA5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B7ED8B-E333-4182-B8E3-AC89987FF07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790BB4-17C8-D28C-6944-755635B0CAE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0C4B1F-099E-7692-B089-56E604FC536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28F75C9-447D-F04F-43AB-48E8250EA6C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0BEEA-687A-DD55-0A2F-EE478C06E6FD}"/>
              </a:ext>
            </a:extLst>
          </p:cNvPr>
          <p:cNvSpPr txBox="1"/>
          <p:nvPr/>
        </p:nvSpPr>
        <p:spPr>
          <a:xfrm>
            <a:off x="787966" y="2309398"/>
            <a:ext cx="75461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 We Need FPA?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Make Estimation </a:t>
            </a:r>
            <a:r>
              <a:rPr lang="en-US" dirty="0"/>
              <a:t>Technology independent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Measure Software Size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Improve Estimation Accuracy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To Support Better Project Planning</a:t>
            </a:r>
          </a:p>
          <a:p>
            <a:r>
              <a:rPr lang="en-US" dirty="0"/>
              <a:t>	With a clear size measure, teams can plan:</a:t>
            </a:r>
          </a:p>
          <a:p>
            <a:r>
              <a:rPr lang="en-US" dirty="0"/>
              <a:t>		Effort, staffing, timelines, budgets</a:t>
            </a:r>
          </a:p>
          <a:p>
            <a:endParaRPr lang="en-US" dirty="0"/>
          </a:p>
          <a:p>
            <a:r>
              <a:rPr lang="en-US" dirty="0"/>
              <a:t>5. To Strengthen Requirement Understanding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AA5DC-A972-5290-03C3-BD44755B7D29}"/>
              </a:ext>
            </a:extLst>
          </p:cNvPr>
          <p:cNvSpPr txBox="1"/>
          <p:nvPr/>
        </p:nvSpPr>
        <p:spPr>
          <a:xfrm>
            <a:off x="1457621" y="5325734"/>
            <a:ext cx="4576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FPA forces analysts to clearly identify: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2813AB-2BBC-AA2F-8B7B-9A03569ADFFA}"/>
              </a:ext>
            </a:extLst>
          </p:cNvPr>
          <p:cNvSpPr txBox="1"/>
          <p:nvPr/>
        </p:nvSpPr>
        <p:spPr>
          <a:xfrm>
            <a:off x="2133600" y="5675574"/>
            <a:ext cx="4114800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2149234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3F0D98-CF0F-4B1F-F112-27C0D38E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6233C9D-A0B7-DCBB-241E-3856547B6A8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845BA48-451E-ADDE-F380-6F9FD9399D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A73AE16-162D-D469-01FC-E7C979BCF46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AAA364-DD10-0B4A-06B5-EAC1E4025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FPA – Function Point Analysis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E390F0-BE0F-6EDE-CCE8-9569800B05F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3D23EE-1FA3-8565-46B4-C44A66BEC4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4C8265-3FD3-816F-4D74-408DC9B48782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ABA8CB8B-0F9E-5EC9-ABF9-29CF245DEE78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231CD-D828-AFB7-4FA1-C1945200B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38192"/>
              </p:ext>
            </p:extLst>
          </p:nvPr>
        </p:nvGraphicFramePr>
        <p:xfrm>
          <a:off x="724849" y="2827655"/>
          <a:ext cx="7885752" cy="3291840"/>
        </p:xfrm>
        <a:graphic>
          <a:graphicData uri="http://schemas.openxmlformats.org/drawingml/2006/table">
            <a:tbl>
              <a:tblPr/>
              <a:tblGrid>
                <a:gridCol w="2628584">
                  <a:extLst>
                    <a:ext uri="{9D8B030D-6E8A-4147-A177-3AD203B41FA5}">
                      <a16:colId xmlns:a16="http://schemas.microsoft.com/office/drawing/2014/main" val="966600631"/>
                    </a:ext>
                  </a:extLst>
                </a:gridCol>
                <a:gridCol w="2628584">
                  <a:extLst>
                    <a:ext uri="{9D8B030D-6E8A-4147-A177-3AD203B41FA5}">
                      <a16:colId xmlns:a16="http://schemas.microsoft.com/office/drawing/2014/main" val="2070946491"/>
                    </a:ext>
                  </a:extLst>
                </a:gridCol>
                <a:gridCol w="2628584">
                  <a:extLst>
                    <a:ext uri="{9D8B030D-6E8A-4147-A177-3AD203B41FA5}">
                      <a16:colId xmlns:a16="http://schemas.microsoft.com/office/drawing/2014/main" val="22282272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1330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EI – External Inputs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entering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Login form, registration, order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84064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EO – External Outputs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leaving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Reports, invoices, emails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489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EQ – External Queries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Input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Search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75866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ILF – Internal Logical Files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Internal data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 table, product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298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EIF – External Interface Files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from external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Payment gateway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09140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DD7B25E6-1763-655E-FE99-A42CB2593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331194"/>
            <a:ext cx="332014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 Counted in FPA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252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208C9E-A310-B2F0-D1C6-3D27D8CF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E912591-0ECE-C6DC-B641-E095377A2274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FAAD816-7DBE-486E-7946-58C1DF6A3C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4AAAA7D-B812-56AF-7F57-22A85161B91B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9815D13-0D47-C222-A419-3873B7158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FPA Calculation Steps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F2C478-D297-330F-0112-A88F45D4B86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8B07E1A-5CAB-1533-3D41-50F4F67EC4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98B19E-A593-30E2-AD87-107D0243A72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6D95FF5-E7BE-FC02-439E-5F1BE9130AC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42FF49-455B-1C25-0211-B4D190097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485082"/>
            <a:ext cx="4365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Count Unadjusted Function Points (UFP)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FE902-9DD8-F965-ADC3-EA17B5C7C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36404"/>
              </p:ext>
            </p:extLst>
          </p:nvPr>
        </p:nvGraphicFramePr>
        <p:xfrm>
          <a:off x="514566" y="3685503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6C92D0-AA63-0DC8-CD74-FE6DF59966A7}"/>
              </a:ext>
            </a:extLst>
          </p:cNvPr>
          <p:cNvSpPr txBox="1"/>
          <p:nvPr/>
        </p:nvSpPr>
        <p:spPr>
          <a:xfrm>
            <a:off x="426302" y="3071813"/>
            <a:ext cx="457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Weight Table</a:t>
            </a:r>
          </a:p>
          <a:p>
            <a:pPr>
              <a:buNone/>
            </a:pPr>
            <a:r>
              <a:rPr lang="en-US" b="1" dirty="0"/>
              <a:t>1. External Inputs (EI)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9FA5140-F560-150E-9A41-8CCB0F200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42319"/>
              </p:ext>
            </p:extLst>
          </p:nvPr>
        </p:nvGraphicFramePr>
        <p:xfrm>
          <a:off x="3389003" y="3751897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4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F86A112-7D8B-D35C-8C6B-F2529B67802C}"/>
              </a:ext>
            </a:extLst>
          </p:cNvPr>
          <p:cNvSpPr txBox="1"/>
          <p:nvPr/>
        </p:nvSpPr>
        <p:spPr>
          <a:xfrm>
            <a:off x="3147106" y="3334647"/>
            <a:ext cx="2916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External Outputs (EO)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D87C6A-10C6-01C0-CFF5-F271D65B2670}"/>
              </a:ext>
            </a:extLst>
          </p:cNvPr>
          <p:cNvSpPr txBox="1"/>
          <p:nvPr/>
        </p:nvSpPr>
        <p:spPr>
          <a:xfrm>
            <a:off x="6189596" y="3348812"/>
            <a:ext cx="2871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External Queries (EQ)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0A57308-4AB4-AB3D-8C1E-031F363FC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596587"/>
              </p:ext>
            </p:extLst>
          </p:nvPr>
        </p:nvGraphicFramePr>
        <p:xfrm>
          <a:off x="6356821" y="3772119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097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5266F3-4202-EAEA-991D-6C517C24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0A0309-2C5E-A965-4778-BA224F46E3C5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AFB3865-11C0-4E77-7A10-9DC61C35C4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E80944-9DD1-8359-48AB-8FF34028396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714C80-9BA0-451B-0BE7-D082A71FF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FPA Calculation Steps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8975B7-07BC-EA8C-DFF6-0BF1E31D181A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E593692-F7C6-A86A-988D-2823DD7EF1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DC0713-7CC2-17BF-C3FD-F66E9E0682CB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945ECBE-701A-6AD6-A4A0-9F843F3C4280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FBAE0FA-BE93-5900-AA2E-82640720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49" y="2485082"/>
            <a:ext cx="4365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Count Unadjusted Function Points (UFP)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8C94CF8-B82B-6730-1662-02F8C94D6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79266"/>
              </p:ext>
            </p:extLst>
          </p:nvPr>
        </p:nvGraphicFramePr>
        <p:xfrm>
          <a:off x="514566" y="3685503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E789AB-E455-F600-FE54-B8BC29BA7265}"/>
              </a:ext>
            </a:extLst>
          </p:cNvPr>
          <p:cNvSpPr txBox="1"/>
          <p:nvPr/>
        </p:nvSpPr>
        <p:spPr>
          <a:xfrm>
            <a:off x="426302" y="3071813"/>
            <a:ext cx="4576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Weight Table</a:t>
            </a:r>
          </a:p>
          <a:p>
            <a:pPr>
              <a:buNone/>
            </a:pPr>
            <a:r>
              <a:rPr lang="en-US" b="1" dirty="0"/>
              <a:t>4. </a:t>
            </a:r>
            <a:r>
              <a:rPr lang="en-IN" b="1" dirty="0"/>
              <a:t>Internal Logical Files (ILF)</a:t>
            </a:r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91060-4061-23C3-6131-84066F4F760D}"/>
              </a:ext>
            </a:extLst>
          </p:cNvPr>
          <p:cNvSpPr txBox="1"/>
          <p:nvPr/>
        </p:nvSpPr>
        <p:spPr>
          <a:xfrm>
            <a:off x="5090147" y="3331193"/>
            <a:ext cx="362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5. External Interface Files (EIF)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A29B2A8-966F-A83D-EE55-93FBE441F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02118"/>
              </p:ext>
            </p:extLst>
          </p:nvPr>
        </p:nvGraphicFramePr>
        <p:xfrm>
          <a:off x="5257372" y="3754500"/>
          <a:ext cx="2536826" cy="1463040"/>
        </p:xfrm>
        <a:graphic>
          <a:graphicData uri="http://schemas.openxmlformats.org/drawingml/2006/table">
            <a:tbl>
              <a:tblPr/>
              <a:tblGrid>
                <a:gridCol w="1268413">
                  <a:extLst>
                    <a:ext uri="{9D8B030D-6E8A-4147-A177-3AD203B41FA5}">
                      <a16:colId xmlns:a16="http://schemas.microsoft.com/office/drawing/2014/main" val="3146346006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10136466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rgbClr val="FF0000"/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684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55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516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863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49300B-4F2A-D2AE-2AEF-289C51A7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523118A-EF34-6D8E-F46D-F9AA388E83C6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807149-C370-3ACC-168A-E13AB7E030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3DCA7D-5A8A-2466-AA7F-8F69CFD28E2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8CB523A-E4AF-E20F-B2E3-0E247C0AB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Steps to Calculate– Function Point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7C8958-7142-958E-E927-0248DAB92FA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033388-7DE5-BB19-2EE0-AB8EB2BC37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B76306-CBDF-65C8-F500-3E6A2E79BBA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DB282F1-DECC-C3C9-3596-26FCB4B5E5E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5914C9-8F77-C0F5-845F-D9379EC5EF4E}"/>
                  </a:ext>
                </a:extLst>
              </p:cNvPr>
              <p:cNvSpPr txBox="1"/>
              <p:nvPr/>
            </p:nvSpPr>
            <p:spPr>
              <a:xfrm>
                <a:off x="1339883" y="2746317"/>
                <a:ext cx="595067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Step 1: Calculate Unadjusted Function Points (UFP)</a:t>
                </a:r>
              </a:p>
              <a:p>
                <a:r>
                  <a:rPr lang="en-IN" dirty="0"/>
                  <a:t>	Item: Count*Complexity</a:t>
                </a:r>
              </a:p>
              <a:p>
                <a:r>
                  <a:rPr lang="en-IN" dirty="0"/>
                  <a:t>	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𝑈𝐹𝑃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items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US" dirty="0"/>
                  <a:t>Step 2: Calculate Value Adjustment Factor (VAF)</a:t>
                </a:r>
              </a:p>
              <a:p>
                <a:endParaRPr lang="en-US" dirty="0"/>
              </a:p>
              <a:p>
                <a:r>
                  <a:rPr lang="en-IN" dirty="0"/>
                  <a:t>Step 3: Calculate VAF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N" sz="1800" i="1"/>
                            <m:t>GSC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IN" dirty="0"/>
              </a:p>
              <a:p>
                <a:r>
                  <a:rPr lang="en-US" dirty="0"/>
                  <a:t>Step 4: Calculate Final Function Points (FP)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𝑉𝐴𝐹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5914C9-8F77-C0F5-845F-D9379EC5E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83" y="2746317"/>
                <a:ext cx="5950670" cy="3416320"/>
              </a:xfrm>
              <a:prstGeom prst="rect">
                <a:avLst/>
              </a:prstGeom>
              <a:blipFill>
                <a:blip r:embed="rId4"/>
                <a:stretch>
                  <a:fillRect l="-922" t="-10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790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EBC2B-998B-3AF6-94C7-39266170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BE60FDB-B508-8D2A-5632-A4D8164930F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5515159-1504-6192-8B4E-25927051DF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954C4AE-5B76-7058-B632-4E05CE14FC1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50D34E2-4DB2-8E0F-A175-1B93A15BA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4FFCBF-90E1-9987-2C79-EFB2FE25E0A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F56E4E7-C08C-851C-F668-650D08ECC06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89FC97-296F-886F-DA8D-A1E116F6C37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A389502-97CB-1341-366D-D6324948B21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6785B4-764C-835B-24A6-CAE36D79D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24621"/>
              </p:ext>
            </p:extLst>
          </p:nvPr>
        </p:nvGraphicFramePr>
        <p:xfrm>
          <a:off x="862962" y="3376295"/>
          <a:ext cx="7396164" cy="2194560"/>
        </p:xfrm>
        <a:graphic>
          <a:graphicData uri="http://schemas.openxmlformats.org/drawingml/2006/table">
            <a:tbl>
              <a:tblPr/>
              <a:tblGrid>
                <a:gridCol w="2465388">
                  <a:extLst>
                    <a:ext uri="{9D8B030D-6E8A-4147-A177-3AD203B41FA5}">
                      <a16:colId xmlns:a16="http://schemas.microsoft.com/office/drawing/2014/main" val="4208747175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3394429451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7434856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6705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Inputs (EI)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0954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Outputs (EO)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702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External Queries (EQ)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949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898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97537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7F82C1B-2F77-87A4-561D-38ABC66EA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68" y="2517574"/>
            <a:ext cx="431400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Online Shopping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018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624BCA-9BA7-F787-CCCF-A8BA14AA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AB76AB-F99C-38A7-6D08-D83DC91185B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AE37B4-360A-21B5-9119-4A7FE37DAC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414E079-BDA1-678C-27DE-71543EBCDD0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1D1EBC6-FE1A-1D47-6484-E5519F6CE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6A7C20-54E1-AA8F-16C5-8FDE085DAE2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16CF3A-8559-FDB3-907A-586B990A2E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901586-AE27-0C8D-3629-C96B2A67341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32CE156-93CA-70C3-1EC4-6B08B4EBFBA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84296-926F-0DC1-B04D-02BC13EFAE88}"/>
                  </a:ext>
                </a:extLst>
              </p:cNvPr>
              <p:cNvSpPr txBox="1"/>
              <p:nvPr/>
            </p:nvSpPr>
            <p:spPr>
              <a:xfrm>
                <a:off x="1219200" y="2626915"/>
                <a:ext cx="57912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200" b="1" dirty="0"/>
                  <a:t>Step 1: Calculate UFP</a:t>
                </a:r>
              </a:p>
              <a:p>
                <a:pPr>
                  <a:buNone/>
                </a:pPr>
                <a:endParaRPr lang="en-IN" sz="2200" b="1" dirty="0"/>
              </a:p>
              <a:p>
                <a:pPr lvl="7" algn="l"/>
                <a:r>
                  <a:rPr lang="en-IN" sz="2200" dirty="0"/>
                  <a:t>EI:  10 inputs × weight 4 = 40</a:t>
                </a:r>
              </a:p>
              <a:p>
                <a:pPr lvl="7" algn="l"/>
                <a:r>
                  <a:rPr lang="en-IN" sz="2200" dirty="0"/>
                  <a:t>EO: 6 outputs × weight 7 = 42</a:t>
                </a:r>
              </a:p>
              <a:p>
                <a:pPr lvl="7" algn="l"/>
                <a:r>
                  <a:rPr lang="en-IN" sz="2200" dirty="0"/>
                  <a:t>EQ: 8 queries × weight 3 = 24</a:t>
                </a:r>
              </a:p>
              <a:p>
                <a:pPr lvl="7" algn="l"/>
                <a:r>
                  <a:rPr lang="en-IN" sz="2200" dirty="0"/>
                  <a:t>ILF: 4 files × weight 10 = 40</a:t>
                </a:r>
              </a:p>
              <a:p>
                <a:pPr lvl="7" algn="l"/>
                <a:r>
                  <a:rPr lang="en-IN" sz="2200" dirty="0"/>
                  <a:t>EIF: 3 files × weight 5 = 15</a:t>
                </a:r>
              </a:p>
              <a:p>
                <a:pPr lvl="7" algn="l"/>
                <a:endParaRPr lang="en-IN" sz="2200" dirty="0"/>
              </a:p>
              <a:p>
                <a:r>
                  <a:rPr lang="en-IN" b="1" dirty="0"/>
                  <a:t>Total UFP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161</m:t>
                      </m:r>
                    </m:oMath>
                  </m:oMathPara>
                </a14:m>
                <a:endParaRPr lang="en-IN" dirty="0"/>
              </a:p>
              <a:p>
                <a:pPr lvl="7" algn="l"/>
                <a:endParaRPr lang="en-I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84296-926F-0DC1-B04D-02BC13EF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626915"/>
                <a:ext cx="5791200" cy="3693319"/>
              </a:xfrm>
              <a:prstGeom prst="rect">
                <a:avLst/>
              </a:prstGeom>
              <a:blipFill>
                <a:blip r:embed="rId4"/>
                <a:stretch>
                  <a:fillRect l="-1368" t="-9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0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8E193D-4115-B804-CE91-B88D0A93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734197F-2228-4F88-1511-74C42D3D05FB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6364287-C29F-5651-623A-9B0FB52618B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700DE6-0C65-B6EB-22FF-5D846E65EC8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BE292C6-B99C-A9A8-D151-02108CCD3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C2FDA-DD82-0B26-4330-FCDCF64BE6F5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3D2A35A-5D40-BD17-D397-373AB8DF0C3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B4E02D-5977-0FF8-9360-922301901F0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556C944-2781-FEC6-D5CC-426257C591D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4056E-9D8B-6523-053C-23DF3900D317}"/>
              </a:ext>
            </a:extLst>
          </p:cNvPr>
          <p:cNvSpPr txBox="1"/>
          <p:nvPr/>
        </p:nvSpPr>
        <p:spPr>
          <a:xfrm>
            <a:off x="435246" y="2409916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2: Calculate Value Adjustment Factor (VAF)</a:t>
            </a:r>
          </a:p>
          <a:p>
            <a:r>
              <a:rPr lang="en-US" dirty="0"/>
              <a:t>There are </a:t>
            </a:r>
            <a:r>
              <a:rPr lang="en-US" b="1" dirty="0"/>
              <a:t>14 General System Characteristics (GSCs)</a:t>
            </a:r>
            <a:r>
              <a:rPr lang="en-US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16C1C-9F88-A41D-C7E8-346B5720BB59}"/>
              </a:ext>
            </a:extLst>
          </p:cNvPr>
          <p:cNvSpPr txBox="1"/>
          <p:nvPr/>
        </p:nvSpPr>
        <p:spPr>
          <a:xfrm>
            <a:off x="1334750" y="3006551"/>
            <a:ext cx="6172199" cy="507613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communications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Performance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Transaction rate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Reusability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Security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Complex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Distributed 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User efficiency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Backup &amp; recovery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complexity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Maintainability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On-line data entry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F0B108-D39F-8CDD-5E0F-4E45DF55C682}"/>
              </a:ext>
            </a:extLst>
          </p:cNvPr>
          <p:cNvSpPr txBox="1"/>
          <p:nvPr/>
        </p:nvSpPr>
        <p:spPr>
          <a:xfrm>
            <a:off x="614640" y="5982577"/>
            <a:ext cx="8328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is rated </a:t>
            </a:r>
            <a:r>
              <a:rPr lang="en-US" b="1" dirty="0"/>
              <a:t>0–5</a:t>
            </a:r>
            <a:r>
              <a:rPr lang="en-US" dirty="0"/>
              <a:t>				</a:t>
            </a:r>
            <a:r>
              <a:rPr lang="en-US" b="1" dirty="0"/>
              <a:t>Suppose total GSC score = 40</a:t>
            </a:r>
          </a:p>
        </p:txBody>
      </p:sp>
    </p:spTree>
    <p:extLst>
      <p:ext uri="{BB962C8B-B14F-4D97-AF65-F5344CB8AC3E}">
        <p14:creationId xmlns:p14="http://schemas.microsoft.com/office/powerpoint/2010/main" val="3643203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4C2AB9-AFB4-08C9-0A92-AF656352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B02FE0D-B16D-5A24-2D65-07047A76A480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20692B-26B1-4D97-1FE6-982D2A49E2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EF6B979-4869-7AC2-1461-A6193FFDE1D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DFE02EE-3FC8-E169-93CF-771C98CCD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49FBC-F31E-ECE6-20B2-663A9D30A497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5056EF-A555-0C08-8DF6-A9D49C8AEF1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BF0767-4AE3-28E4-1474-B53D1741934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BBBE6C9A-1FE8-C7E6-4195-979802D83F3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CB36C-0835-36DC-8242-DDF1D1E96723}"/>
                  </a:ext>
                </a:extLst>
              </p:cNvPr>
              <p:cNvSpPr txBox="1"/>
              <p:nvPr/>
            </p:nvSpPr>
            <p:spPr>
              <a:xfrm>
                <a:off x="685800" y="2619020"/>
                <a:ext cx="73152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dirty="0"/>
                  <a:t>Step 3: Calculate VAF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IN" sz="2400" i="1"/>
                            <m:t>GSC</m:t>
                          </m:r>
                        </m:e>
                      </m:d>
                    </m:oMath>
                  </m:oMathPara>
                </a14:m>
                <a:endParaRPr lang="ar-A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𝑉𝐴𝐹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IN" sz="2400" b="1" dirty="0"/>
                  <a:t>Step 4: Calculate Final Function Points (FP)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𝑉𝐴𝐹</m:t>
                      </m:r>
                    </m:oMath>
                  </m:oMathPara>
                </a14:m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161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169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IN" sz="2400" dirty="0"/>
              </a:p>
              <a:p>
                <a:endParaRPr lang="en-IN" sz="2400" b="1" dirty="0"/>
              </a:p>
              <a:p>
                <a:r>
                  <a:rPr lang="en-IN" sz="2400" b="1" dirty="0"/>
                  <a:t>Final Function Points = 169</a:t>
                </a:r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CB36C-0835-36DC-8242-DDF1D1E96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619020"/>
                <a:ext cx="7315200" cy="3416320"/>
              </a:xfrm>
              <a:prstGeom prst="rect">
                <a:avLst/>
              </a:prstGeom>
              <a:blipFill>
                <a:blip r:embed="rId4"/>
                <a:stretch>
                  <a:fillRect l="-1333" t="-1250" b="-3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01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4E3FE0-17EF-808D-9281-A3548C3E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374FCE-EFAD-394A-DEA7-2419C696FD6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86CD9FC-62BE-BCEE-31ED-A859621388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6523C5-7FA1-0AE7-09B8-72AB80C3ECF2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069BB86-D012-AB1F-B44A-2DD2ED628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DCAD2E-E87B-C110-D42D-B4492F804CC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874E9F-DE91-77B7-5E5E-7E2C9304A9E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9EBBC3-9581-3CD9-A027-9ED37DD8A5C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1DC3642-6AE5-E98D-AAB6-7792574B025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2B9FC-127D-9142-F92C-9518EE696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4" y="2352712"/>
            <a:ext cx="9067800" cy="38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74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1BC56B-3EBC-5BEB-EF42-7C20A560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EF30993-23E4-7E1B-8C99-4C079DACC4B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30FAA6F-7F8C-C46E-20B7-A0FCFA40FB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2D788B5-954F-6FD7-9AF5-AD1DDD8B31EF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0F98129-9C20-DF10-DCBA-CA4386810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31AFD4-A8D3-8996-0F63-234CB0E983C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E404A49-3552-6506-EDAE-EAE9BB445F0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2C5435-D254-EA98-A683-9142BC5E034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BAFB3711-DA64-DC6C-0198-5D54D61C9DE2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E18D2-3660-34A3-2169-3AB868A22D18}"/>
              </a:ext>
            </a:extLst>
          </p:cNvPr>
          <p:cNvSpPr txBox="1"/>
          <p:nvPr/>
        </p:nvSpPr>
        <p:spPr>
          <a:xfrm>
            <a:off x="609600" y="2514600"/>
            <a:ext cx="7848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1. Identify function types and complexities</a:t>
            </a:r>
          </a:p>
          <a:p>
            <a:r>
              <a:rPr lang="en-IN" sz="2400"/>
              <a:t>You’re given:</a:t>
            </a:r>
          </a:p>
          <a:p>
            <a:r>
              <a:rPr lang="en-IN" sz="2400" b="1"/>
              <a:t>Inputs (EI)</a:t>
            </a:r>
            <a:r>
              <a:rPr lang="en-IN" sz="2400"/>
              <a:t> = 7 → </a:t>
            </a:r>
            <a:r>
              <a:rPr lang="en-IN" sz="2400" b="1"/>
              <a:t>Average complexity</a:t>
            </a:r>
            <a:endParaRPr lang="en-IN" sz="2400"/>
          </a:p>
          <a:p>
            <a:r>
              <a:rPr lang="en-IN" sz="2400" b="1"/>
              <a:t>Outputs (EO)</a:t>
            </a:r>
            <a:r>
              <a:rPr lang="en-IN" sz="2400"/>
              <a:t> = 10 → </a:t>
            </a:r>
            <a:r>
              <a:rPr lang="en-IN" sz="2400" b="1"/>
              <a:t>Low complexity</a:t>
            </a:r>
            <a:endParaRPr lang="en-IN" sz="2400"/>
          </a:p>
          <a:p>
            <a:r>
              <a:rPr lang="en-IN" sz="2400" b="1"/>
              <a:t>Inquiries (EQ)</a:t>
            </a:r>
            <a:r>
              <a:rPr lang="en-IN" sz="2400"/>
              <a:t> = 6 → </a:t>
            </a:r>
            <a:r>
              <a:rPr lang="en-IN" sz="2400" b="1"/>
              <a:t>Low complexity</a:t>
            </a:r>
            <a:endParaRPr lang="en-IN" sz="2400"/>
          </a:p>
          <a:p>
            <a:r>
              <a:rPr lang="en-IN" sz="2400" b="1"/>
              <a:t>Files (ILF)</a:t>
            </a:r>
            <a:r>
              <a:rPr lang="en-IN" sz="2400"/>
              <a:t> = 17 → </a:t>
            </a:r>
            <a:r>
              <a:rPr lang="en-IN" sz="2400" b="1"/>
              <a:t>Low complexity</a:t>
            </a:r>
            <a:endParaRPr lang="en-IN" sz="2400"/>
          </a:p>
          <a:p>
            <a:r>
              <a:rPr lang="en-IN" sz="2400" b="1"/>
              <a:t>External Interfaces (EIF)</a:t>
            </a:r>
            <a:r>
              <a:rPr lang="en-IN" sz="2400"/>
              <a:t> = 4 → </a:t>
            </a:r>
            <a:r>
              <a:rPr lang="en-IN" sz="2400" b="1"/>
              <a:t>Average complexity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23726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B526A0-65DE-10A9-2011-4789397D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C778747-D231-2842-2215-DD71B510E5EE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871AD09-0371-745C-46CE-7AE63A5395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6FA607-ADDB-479D-F2BC-B538D71BF788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557DFC2-28C7-55AE-88C0-A3FAF7DBBE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6FA3E2-DE80-16B2-B3DD-9CEE859B39F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F89295-1867-4500-3EF1-8BA196536B6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99637E-58FF-B565-3C30-7D91DA1D90C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4003B40-4D4D-4716-FA64-43C5B483A0E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601B43-F84A-F2ED-8140-5912F4D09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32691"/>
            <a:ext cx="7611537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11A19D-229F-DD52-180B-9DB0A02E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5112413-AE1B-80C5-3326-400AB324453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A67A4FD-F89D-1DB0-843B-3C53BFCA5E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C9CA8F-E490-991F-F389-CBEF1C04A869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A19B84-EA01-5EE9-9EC3-3A5AF3808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E42D4F-FCEE-9241-E9A1-DCB0DD82EAB1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F7940A-7720-FA93-4D67-6BB7E8EF1F5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7696DD6-5B4E-DB96-A784-E79BA3426FDB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E414464-5790-F57E-6CCB-E07E2BC1D44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85E84-93B8-AB26-39C3-AE08DE3AF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88" y="2667000"/>
            <a:ext cx="6568111" cy="348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75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F08465-6F70-26BB-532E-EBFE38BF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41CCFB7-BF85-27D2-6AB6-0FC9C977069D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D093EA9-64A1-6CA7-EA1D-4653533FF7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3CAA311-4F4E-BC78-A9DC-5DE0B5F4F2F7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4030FF0-51FE-2D88-85D5-07A6405E8F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025E4-95EE-18A5-C02B-815F99422D7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D95F61-9C53-ECC1-A44D-A9B083FE04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D066F0-8876-A9FE-A747-3601D8670D4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0816E608-3A72-B456-C917-7E4EB81F795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9B1274-B186-188F-5C42-4811479B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78" y="2514600"/>
            <a:ext cx="9036271" cy="358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530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46F29D-53A6-03DE-5A7B-D2E71DB5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A772F6C-012A-B564-DD32-F56217AE2273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05D14AC-9572-0746-AEBB-6A1458F4316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91C3A4-3687-8467-5535-A172314DA19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F446EF-0FFC-8040-103B-79832E14E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54FD77-D635-353F-B6A9-502D63D18078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E4637C-27BB-FB1E-389D-0ACA309A3E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65F664-2971-C89F-6E50-50930CA8CDCA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3985F3E-F3A7-4CB5-5487-17DBBC3D7DD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E950D-8C57-2C92-5F10-B841D3BDB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36" y="2331183"/>
            <a:ext cx="6629400" cy="399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49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9E800E-3E39-8E6B-7271-C3A37516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6BA1D5-4A2B-D11F-58B5-DD7D2ADC4E13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B97CD9F-1D5D-8893-8A68-1301C334A1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08BBA4-A04F-82E5-0F17-96315B1976EB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B6BA946-4880-710A-8EA1-4568300470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709457"/>
            <a:ext cx="9144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dirty="0"/>
              <a:t>Real-Time Example – Function Point Calculation</a:t>
            </a:r>
            <a:endParaRPr lang="en-IN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D5FDFF-F7E2-0772-BA2B-54D6C78D192D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7A4D8E-5FED-0CA0-FAE6-C59B6592187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7743C0-ADF4-4544-EE96-B22BEF5E90B6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AEAC8BD-D025-6BA3-C75F-59C13342094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A1F41-D602-BC5C-5378-0A91C60116CD}"/>
              </a:ext>
            </a:extLst>
          </p:cNvPr>
          <p:cNvSpPr txBox="1"/>
          <p:nvPr/>
        </p:nvSpPr>
        <p:spPr>
          <a:xfrm>
            <a:off x="762000" y="2586524"/>
            <a:ext cx="6934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LOC Calculations in Different Programming Languages</a:t>
            </a:r>
          </a:p>
          <a:p>
            <a:r>
              <a:rPr lang="en-IN" b="1" dirty="0"/>
              <a:t>C</a:t>
            </a:r>
          </a:p>
          <a:p>
            <a:r>
              <a:rPr lang="en-IN" dirty="0"/>
              <a:t>LOC = 226.01 × 128 = </a:t>
            </a:r>
            <a:r>
              <a:rPr lang="en-IN" b="1" dirty="0"/>
              <a:t>28,929.28 LOC</a:t>
            </a:r>
            <a:endParaRPr lang="en-IN" dirty="0"/>
          </a:p>
          <a:p>
            <a:r>
              <a:rPr lang="en-IN" b="1" dirty="0"/>
              <a:t>KLOC = 28.93</a:t>
            </a:r>
            <a:endParaRPr lang="en-IN" dirty="0"/>
          </a:p>
          <a:p>
            <a:r>
              <a:rPr lang="en-IN" b="1" dirty="0"/>
              <a:t>C++</a:t>
            </a:r>
          </a:p>
          <a:p>
            <a:r>
              <a:rPr lang="en-IN" dirty="0"/>
              <a:t>LOC = 226.01 × 75 = </a:t>
            </a:r>
            <a:r>
              <a:rPr lang="en-IN" b="1" dirty="0"/>
              <a:t>16,950.75 LOC</a:t>
            </a:r>
            <a:endParaRPr lang="en-IN" dirty="0"/>
          </a:p>
          <a:p>
            <a:r>
              <a:rPr lang="en-IN" b="1" dirty="0"/>
              <a:t>KLOC = 16.95</a:t>
            </a:r>
            <a:endParaRPr lang="en-IN" dirty="0"/>
          </a:p>
          <a:p>
            <a:r>
              <a:rPr lang="en-IN" b="1" dirty="0"/>
              <a:t>Java</a:t>
            </a:r>
          </a:p>
          <a:p>
            <a:r>
              <a:rPr lang="en-IN" dirty="0"/>
              <a:t>LOC = 226.01 × 53 = </a:t>
            </a:r>
            <a:r>
              <a:rPr lang="en-IN" b="1" dirty="0"/>
              <a:t>11,978.53 LOC</a:t>
            </a:r>
            <a:endParaRPr lang="en-IN" dirty="0"/>
          </a:p>
          <a:p>
            <a:r>
              <a:rPr lang="en-IN" b="1" dirty="0"/>
              <a:t>KLOC = 11.98</a:t>
            </a:r>
            <a:endParaRPr lang="en-IN" dirty="0"/>
          </a:p>
          <a:p>
            <a:r>
              <a:rPr lang="en-IN" b="1" dirty="0"/>
              <a:t>Python</a:t>
            </a:r>
          </a:p>
          <a:p>
            <a:r>
              <a:rPr lang="en-IN" dirty="0"/>
              <a:t>LOC = 226.01 × 21 = </a:t>
            </a:r>
            <a:r>
              <a:rPr lang="en-IN" b="1" dirty="0"/>
              <a:t>4,746.21 LOC</a:t>
            </a:r>
            <a:endParaRPr lang="en-IN" dirty="0"/>
          </a:p>
          <a:p>
            <a:r>
              <a:rPr lang="en-IN" b="1" dirty="0"/>
              <a:t>KLOC = 4.75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1207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D020CB-E06F-E33E-2D3D-821C72B0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E908F9-4203-F28F-A15F-429AA1AA2D6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72E2B7A-228D-A1AB-ECC2-6FE5D0DC680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9B1D024-6D67-BA80-D2E8-9E7149FEFD3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85769F-144F-F28B-0E76-6AE78EDF8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Project Scheduling &amp; Tracking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D05A57-D9BA-2E57-FE85-2CAB5AAB6A2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67FFC4-1A3D-C439-C0D4-E47E85F4810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C8FD5B-838B-D7B9-DD84-1C49797110D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DB1308E3-33FF-E0D3-3945-2484E33B861E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F88D2-40C3-E89A-7767-885175924801}"/>
              </a:ext>
            </a:extLst>
          </p:cNvPr>
          <p:cNvSpPr txBox="1"/>
          <p:nvPr/>
        </p:nvSpPr>
        <p:spPr>
          <a:xfrm>
            <a:off x="1066800" y="2824693"/>
            <a:ext cx="76985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Scheduling Principles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Compartmentalization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Effort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Milestones</a:t>
            </a:r>
          </a:p>
        </p:txBody>
      </p:sp>
    </p:spTree>
    <p:extLst>
      <p:ext uri="{BB962C8B-B14F-4D97-AF65-F5344CB8AC3E}">
        <p14:creationId xmlns:p14="http://schemas.microsoft.com/office/powerpoint/2010/main" val="1555400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88716D-3624-4259-BA01-08A6A436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F214FB-508F-8F0A-E65B-35EE96A8F240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52D757-0A48-B8F9-648A-C2703D8CC2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0DD7D01-0832-70C8-C232-02143B97EE3A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F5E579D-368B-0FE3-5937-39A416625A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Project Scheduling &amp; Tracking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B2C941-F7FE-1891-78A0-E6DDE4A5A963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A5FB942-9213-AA30-DDF2-C162F1761E1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1B73B3-6655-B6F1-CD04-DFC21A6BDB23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4E41705D-BB22-987C-6FCB-C512503DB17B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630CC-AA95-226F-498C-D9A0853B3153}"/>
              </a:ext>
            </a:extLst>
          </p:cNvPr>
          <p:cNvSpPr txBox="1"/>
          <p:nvPr/>
        </p:nvSpPr>
        <p:spPr>
          <a:xfrm>
            <a:off x="838200" y="2818145"/>
            <a:ext cx="76985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Compartmentalization</a:t>
            </a:r>
            <a:br>
              <a:rPr lang="en-US" dirty="0"/>
            </a:br>
            <a:r>
              <a:rPr lang="en-US" dirty="0"/>
              <a:t>Breaking a project into smaller, manageable parts.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Dividing a software project into modules like login, dashboard, and reports.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Interdependency</a:t>
            </a:r>
            <a:br>
              <a:rPr lang="en-US" dirty="0"/>
            </a:br>
            <a:r>
              <a:rPr lang="en-US" dirty="0"/>
              <a:t>When one task or module depends on another to function or complete.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The payment module depends on the user authentication module.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889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045E7D-600D-2BA2-1171-6C394E33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151851A-DD58-0C52-E25D-6D96E3DB684A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DA9EB71-15F6-711A-C3BC-12E395AAD4A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3F3B26-4B1F-5E92-16D8-D07844DF998F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A7CAB1A-A001-D58B-12D7-A0A3D8DA5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Project Scheduling &amp; Tracking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67CEE8-4169-8559-4044-BA7B9FD9BB9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6F4C0C6-A1E9-B41D-7FDF-CFEA1CEFEFD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76198-20DC-5F13-E193-E9594190C42D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CA24C149-FF65-2553-50A6-A2815CA48D4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430C6-97AC-CE8A-B473-85CEF5824D99}"/>
              </a:ext>
            </a:extLst>
          </p:cNvPr>
          <p:cNvSpPr txBox="1"/>
          <p:nvPr/>
        </p:nvSpPr>
        <p:spPr>
          <a:xfrm>
            <a:off x="838200" y="2818145"/>
            <a:ext cx="76985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Time Allocation</a:t>
            </a:r>
            <a:br>
              <a:rPr lang="en-US" dirty="0"/>
            </a:br>
            <a:r>
              <a:rPr lang="en-US" dirty="0"/>
              <a:t>Assigning a fixed amount of time to each project activity.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Allocating 2 weeks for design and 3 weeks for coding.</a:t>
            </a:r>
          </a:p>
          <a:p>
            <a:endParaRPr lang="en-US" dirty="0"/>
          </a:p>
          <a:p>
            <a:r>
              <a:rPr lang="en-US" b="1" dirty="0"/>
              <a:t>Effort Validation</a:t>
            </a:r>
            <a:br>
              <a:rPr lang="en-US" dirty="0"/>
            </a:br>
            <a:r>
              <a:rPr lang="en-US" dirty="0"/>
              <a:t>Checking whether the estimated effort matches the actual work done.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Comparing planned 100 hours of coding with actual hours spent.</a:t>
            </a:r>
          </a:p>
          <a:p>
            <a:br>
              <a:rPr lang="en-US" dirty="0"/>
            </a:br>
            <a:r>
              <a:rPr lang="en-US" b="1" dirty="0"/>
              <a:t>Define Responsibilities</a:t>
            </a:r>
            <a:br>
              <a:rPr lang="en-US" dirty="0"/>
            </a:br>
            <a:r>
              <a:rPr lang="en-US" dirty="0"/>
              <a:t>Clearly assigning tasks to specific team members.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One developer handles backend, another handles frontend.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96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B771FA-2302-59CA-1B48-0B0E6F2DD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ED5BBE9-F65A-BFB2-1A8A-91EFFC2F5C2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7EEF379-EF1E-88F0-77C6-B3E88A995D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7433B81-E393-BC7C-FB2E-DE8719F3FCB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D079A4E-0F81-7224-2467-0278F8A10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Project Scheduling &amp; Tracking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FAEEBC-E2DD-2988-8330-2C8F225A701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8F7ABED-F721-62FB-675D-0C23145E0EF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5F52FA-1DBF-D4EE-FEA8-9EC01207B8DE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2C714E6E-288A-3CA2-D48C-3C049AAF00DF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56AE6-4951-330C-CEE4-CC109F642DA7}"/>
              </a:ext>
            </a:extLst>
          </p:cNvPr>
          <p:cNvSpPr txBox="1"/>
          <p:nvPr/>
        </p:nvSpPr>
        <p:spPr>
          <a:xfrm>
            <a:off x="838200" y="2818145"/>
            <a:ext cx="7698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Define Outcomes</a:t>
            </a:r>
            <a:br>
              <a:rPr lang="en-US" dirty="0"/>
            </a:br>
            <a:r>
              <a:rPr lang="en-US" dirty="0"/>
              <a:t>Clearly stating what result is expected from a task or phase.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Outcome of testing phase is a bug-free, stable software build.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Define Milestones</a:t>
            </a:r>
            <a:br>
              <a:rPr lang="en-US" dirty="0"/>
            </a:br>
            <a:r>
              <a:rPr lang="en-US" dirty="0"/>
              <a:t>Setting key checkpoints to track project progress.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Completion of design document by the end of week 2.</a:t>
            </a:r>
          </a:p>
        </p:txBody>
      </p:sp>
    </p:spTree>
    <p:extLst>
      <p:ext uri="{BB962C8B-B14F-4D97-AF65-F5344CB8AC3E}">
        <p14:creationId xmlns:p14="http://schemas.microsoft.com/office/powerpoint/2010/main" val="450402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0576E5-CDF1-24C5-439F-3D4FA285F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CA61848-3792-1564-85E5-3F0A75CE9C98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02357FB-9522-0790-357C-29E0F6DB02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7F7DC3-9AE8-3A81-7A5D-916D1BBF437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FC17F9-E9DC-47DA-1C16-5611C7ED8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Scheduling methods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DA636F-1C11-49F0-033F-A25BE8ECA08D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9116BF-1379-FDE9-2CD1-B504C76EC6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D688EC-FF2F-613A-2BD6-C7F6149611EF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DS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9D655CBE-B718-AD7F-7DEC-A5E35747C4E4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1BF2A-BA36-A76E-7818-5199FCA06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5" y="2334644"/>
            <a:ext cx="9144000" cy="395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33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064713-72C2-8666-4D31-379D94A0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2E8A34-EDFF-CE55-1648-6CE095CDA543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D080481-AE27-864A-BF18-ADBD895362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D5A70C-0011-5828-8B75-DAFE5A247F8C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D551384-5A61-A989-26AC-1CE34DE7D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Effort Distribution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604827-C3FD-740E-D3DB-23EB2300B1E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63FB47-7ECE-189D-5911-600EF95A8D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426234-FBB1-B5EE-202E-518AB7BFCD3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150D0F26-9E3B-7DCB-817A-AABCE848D250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0F6FE-882D-12A3-FA28-949406DC58FD}"/>
              </a:ext>
            </a:extLst>
          </p:cNvPr>
          <p:cNvSpPr txBox="1"/>
          <p:nvPr/>
        </p:nvSpPr>
        <p:spPr>
          <a:xfrm>
            <a:off x="564007" y="2507514"/>
            <a:ext cx="79940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General guideline: </a:t>
            </a:r>
            <a:r>
              <a:rPr lang="en-US" b="1" dirty="0"/>
              <a:t>40-20-40 rule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40% </a:t>
            </a:r>
            <a:r>
              <a:rPr lang="en-US" dirty="0"/>
              <a:t>or more of all effort allocated to </a:t>
            </a:r>
            <a:r>
              <a:rPr lang="en-US" b="1" dirty="0"/>
              <a:t>analysis and design tasks </a:t>
            </a:r>
          </a:p>
          <a:p>
            <a:pPr>
              <a:buNone/>
            </a:pPr>
            <a:r>
              <a:rPr lang="en-US" b="1" dirty="0"/>
              <a:t>20% </a:t>
            </a:r>
            <a:r>
              <a:rPr lang="en-US" dirty="0"/>
              <a:t>of effort allocated to </a:t>
            </a:r>
            <a:r>
              <a:rPr lang="en-US" b="1" dirty="0"/>
              <a:t>programming </a:t>
            </a:r>
          </a:p>
          <a:p>
            <a:pPr>
              <a:buNone/>
            </a:pPr>
            <a:r>
              <a:rPr lang="en-US" b="1" dirty="0"/>
              <a:t>40% </a:t>
            </a:r>
            <a:r>
              <a:rPr lang="en-US" dirty="0"/>
              <a:t>of effort allocated to </a:t>
            </a:r>
            <a:r>
              <a:rPr lang="en-US" b="1" dirty="0"/>
              <a:t>testing,</a:t>
            </a:r>
            <a:r>
              <a:rPr lang="en-US" dirty="0"/>
              <a:t> </a:t>
            </a:r>
            <a:r>
              <a:rPr lang="en-IN" b="1" dirty="0"/>
              <a:t>Deployment &amp; Maintenance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Although most software organizations encounter the following projects types: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D28A8-30E5-0F38-F427-BDBCF5BC972D}"/>
              </a:ext>
            </a:extLst>
          </p:cNvPr>
          <p:cNvSpPr txBox="1"/>
          <p:nvPr/>
        </p:nvSpPr>
        <p:spPr>
          <a:xfrm>
            <a:off x="954447" y="4476273"/>
            <a:ext cx="7213191" cy="147732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Concept Development </a:t>
            </a:r>
          </a:p>
          <a:p>
            <a:pPr marL="342900" indent="-342900">
              <a:buAutoNum type="arabicPeriod"/>
            </a:pPr>
            <a:r>
              <a:rPr lang="en-US" dirty="0"/>
              <a:t>New Application Development </a:t>
            </a:r>
          </a:p>
          <a:p>
            <a:pPr marL="342900" indent="-342900">
              <a:buAutoNum type="arabicPeriod"/>
            </a:pPr>
            <a:r>
              <a:rPr lang="en-US" dirty="0"/>
              <a:t>Application Enhancement</a:t>
            </a:r>
          </a:p>
          <a:p>
            <a:pPr marL="342900" indent="-342900">
              <a:buAutoNum type="arabicPeriod"/>
            </a:pPr>
            <a:r>
              <a:rPr lang="en-US" dirty="0"/>
              <a:t> Application Maintenance</a:t>
            </a:r>
          </a:p>
          <a:p>
            <a:pPr marL="342900" indent="-342900">
              <a:buAutoNum type="arabicPeriod"/>
            </a:pPr>
            <a:r>
              <a:rPr lang="en-US" dirty="0"/>
              <a:t>Reengineering</a:t>
            </a:r>
          </a:p>
        </p:txBody>
      </p:sp>
    </p:spTree>
    <p:extLst>
      <p:ext uri="{BB962C8B-B14F-4D97-AF65-F5344CB8AC3E}">
        <p14:creationId xmlns:p14="http://schemas.microsoft.com/office/powerpoint/2010/main" val="2180380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B03B4D-5E97-9925-BBB1-091526FA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AB18920-8EF6-0CF1-1970-33610E8E035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616EAD-EB55-A9D4-F089-2DAAD71D82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A891C3-7343-98EE-E599-7190826F81A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5CE6A9-B55D-86DF-CDAF-166B8D920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Risk analysis &amp; Management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31D066-BB0B-8C71-8879-BC1C9FFF5B0E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A7A78C-BB2C-F635-A3CC-46E5B8171CE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CF4346-6844-1A4C-C91E-8C486056D12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C6786EE-4FB2-9AF1-A6D4-4AFFE3BF10E9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ACCD8-1C9E-7E9C-4034-3BC82BD25B4B}"/>
              </a:ext>
            </a:extLst>
          </p:cNvPr>
          <p:cNvSpPr txBox="1"/>
          <p:nvPr/>
        </p:nvSpPr>
        <p:spPr>
          <a:xfrm>
            <a:off x="914400" y="2765332"/>
            <a:ext cx="74699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Risk Analysis and Risk Management are systematic processes used to identify, assess, and control threats that could negatively impact an organization, project, or system. </a:t>
            </a:r>
          </a:p>
          <a:p>
            <a:endParaRPr lang="en-US" dirty="0"/>
          </a:p>
          <a:p>
            <a:r>
              <a:rPr lang="en-US" dirty="0"/>
              <a:t>These threats may come from financial uncertainty, legal liabilities, strategic failures, natural disasters, or cybersecurity incidents.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68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A64685-3A5F-F995-C6A5-547E9D61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FFB68F2-7317-05FD-EA90-F57D6B159102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CBB8FD9-98A0-4D51-FBD5-7638E4937B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D481451-93D5-E6C0-58A5-6A98581493FE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8D7F084-AFC8-091B-B28A-2D927605E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Predictable Risk Categories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1E8C5C-BCAA-32DE-FB70-3B93A96D7AC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64D9DEA-2925-8C21-7057-D795162594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83CC94-37BE-AE02-7792-9C8C388D0C95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6C8E4134-FF6A-7DF1-8A04-AC94D91BE7F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DDD325-F6F9-5CE9-C47F-4BD9059F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20"/>
          <a:stretch>
            <a:fillRect/>
          </a:stretch>
        </p:blipFill>
        <p:spPr>
          <a:xfrm>
            <a:off x="108822" y="2281118"/>
            <a:ext cx="8904444" cy="40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64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7B466E-8EFD-921A-4512-6CFE2E21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A7E0092-08DF-0085-48E1-357D5D241219}"/>
              </a:ext>
            </a:extLst>
          </p:cNvPr>
          <p:cNvGrpSpPr/>
          <p:nvPr/>
        </p:nvGrpSpPr>
        <p:grpSpPr>
          <a:xfrm>
            <a:off x="0" y="164306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833D9E2-2221-D0B3-B97E-6DB0E00DBC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90EA55-8D50-BFAC-7014-1A20D4F11225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CFE7E-5AE1-97FA-0ECC-2053E7CFF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709457"/>
            <a:ext cx="61463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/>
              <a:t>Steps for Risk Management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A5A671-D64E-4197-0018-424349DE4562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FD5088-D02D-1FBA-C677-93965AEBC5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40D0F6-6094-742E-8952-8020D967CBE1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5A18DA62-29F4-E394-A1BD-6DF3C5B8DCB5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185025-21F7-5CE6-74C6-C516AA999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352712"/>
            <a:ext cx="8908473" cy="382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729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6D1471-7C04-52FD-39B5-E307598F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B8418B4-C354-74E7-1D92-08FC0A87B43C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51C36F-FE42-2F15-20D1-1CBFF1A49AB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70E1AA9-7D2F-0BC7-F371-168EC7C1F881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49C1B39-D53A-241C-7B86-7630007EBF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RMMM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DE0843-FA4C-D2A5-DD2C-6A88B972A796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5C4F2F-E7DE-1B33-6707-4B0E8AF6D1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0CFEAC-9D6B-F6FE-8FA5-87B320B79780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ML</a:t>
              </a:r>
              <a:endParaRPr lang="en-US" sz="3200" b="1" dirty="0">
                <a:solidFill>
                  <a:srgbClr val="1F487C"/>
                </a:solidFill>
              </a:endParaRP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E8565E57-A84C-320A-0E12-44A66933422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0521F-43D0-638C-B87B-59822958845E}"/>
              </a:ext>
            </a:extLst>
          </p:cNvPr>
          <p:cNvSpPr txBox="1"/>
          <p:nvPr/>
        </p:nvSpPr>
        <p:spPr>
          <a:xfrm>
            <a:off x="384463" y="2474120"/>
            <a:ext cx="8375073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RMMM</a:t>
            </a:r>
            <a:r>
              <a:rPr lang="en-US" sz="2000" dirty="0"/>
              <a:t> - Mitigation, Monitoring, and Management</a:t>
            </a:r>
          </a:p>
          <a:p>
            <a:pPr>
              <a:buNone/>
            </a:pPr>
            <a:r>
              <a:rPr lang="en-US" sz="2000" dirty="0"/>
              <a:t>An effective strategy for dealing with risk must consider three issues</a:t>
            </a:r>
          </a:p>
          <a:p>
            <a:pPr>
              <a:buNone/>
            </a:pPr>
            <a:endParaRPr lang="en-US" sz="2000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mitigation </a:t>
            </a:r>
            <a:r>
              <a:rPr lang="en-US" sz="2000" dirty="0"/>
              <a:t>(i.e., avoidance, try to stop the risk or reduce its effect)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monitoring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Risk management </a:t>
            </a:r>
            <a:r>
              <a:rPr lang="en-US" sz="2000" dirty="0"/>
              <a:t>(Handle the risk if it actually happens)</a:t>
            </a:r>
          </a:p>
        </p:txBody>
      </p:sp>
      <p:pic>
        <p:nvPicPr>
          <p:cNvPr id="1028" name="Picture 4" descr="RMMM in Software Engineering - cmrtpoint">
            <a:extLst>
              <a:ext uri="{FF2B5EF4-FFF2-40B4-BE49-F238E27FC236}">
                <a16:creationId xmlns:a16="http://schemas.microsoft.com/office/drawing/2014/main" id="{983E4E94-F45B-8D6E-FAD2-DF73E49C0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061" y="4817775"/>
            <a:ext cx="2752839" cy="153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690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51C6E6-9478-95BB-DDE4-67DD5680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82EFAB9-A1AC-5D19-EE7A-A41FFBCE5720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810324-541B-224F-DED5-D3B2609A45F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0C8B80-3F33-C70B-F71B-532773D97170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4A7D7B-38B4-CC88-07B2-1909FAA48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RMMM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8BE4EE-6FC1-2641-BC01-7370FCAC767F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27F1B78-36F3-3074-529A-CBDFFD933B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B7AC20-2DED-171E-01A4-EF5EE307D184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37090996-8641-60E8-65C2-1FF8395A6911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F93B9-1AE2-1D27-D805-D6EDC36A3F14}"/>
              </a:ext>
            </a:extLst>
          </p:cNvPr>
          <p:cNvSpPr txBox="1"/>
          <p:nvPr/>
        </p:nvSpPr>
        <p:spPr>
          <a:xfrm>
            <a:off x="373507" y="2595319"/>
            <a:ext cx="8375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Risk Mitigation</a:t>
            </a:r>
          </a:p>
          <a:p>
            <a:r>
              <a:rPr lang="en-US" sz="2000" dirty="0"/>
              <a:t>Actions taken </a:t>
            </a:r>
            <a:r>
              <a:rPr lang="en-US" sz="2000" b="1" dirty="0"/>
              <a:t>in advance</a:t>
            </a:r>
            <a:r>
              <a:rPr lang="en-US" sz="2000" dirty="0"/>
              <a:t> to reduce the probability or impact of a risk.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 </a:t>
            </a:r>
            <a:r>
              <a:rPr lang="en-US" sz="2000" i="1" dirty="0"/>
              <a:t>Prevent the risk or reduce its damage</a:t>
            </a:r>
          </a:p>
          <a:p>
            <a:endParaRPr lang="en-US" sz="2000" i="1" dirty="0"/>
          </a:p>
          <a:p>
            <a:r>
              <a:rPr lang="en-US" sz="2000" b="1" dirty="0"/>
              <a:t>Risk Monitoring</a:t>
            </a:r>
          </a:p>
          <a:p>
            <a:r>
              <a:rPr lang="en-US" sz="2000" dirty="0"/>
              <a:t>Continuous tracking of identified risks to detect early warning signs.</a:t>
            </a:r>
          </a:p>
          <a:p>
            <a:r>
              <a:rPr lang="en-US" sz="2000" b="1" dirty="0"/>
              <a:t>Goal: </a:t>
            </a:r>
            <a:r>
              <a:rPr lang="en-US" sz="2000" i="1" dirty="0"/>
              <a:t>Know when a risk is about to happen</a:t>
            </a:r>
          </a:p>
          <a:p>
            <a:endParaRPr lang="en-US" sz="2000" i="1" dirty="0"/>
          </a:p>
          <a:p>
            <a:r>
              <a:rPr lang="en-US" sz="2000" b="1" dirty="0"/>
              <a:t>Risk Management</a:t>
            </a:r>
          </a:p>
          <a:p>
            <a:r>
              <a:rPr lang="en-US" sz="2000" dirty="0"/>
              <a:t>Actions taken </a:t>
            </a:r>
            <a:r>
              <a:rPr lang="en-US" sz="2000" b="1" dirty="0"/>
              <a:t>when a risk occurs</a:t>
            </a:r>
            <a:r>
              <a:rPr lang="en-US" sz="2000" dirty="0"/>
              <a:t> (contingency plans).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 </a:t>
            </a:r>
            <a:r>
              <a:rPr lang="en-US" sz="2000" i="1" dirty="0"/>
              <a:t>Control damage and recover quickly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90647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B9BD7F-0917-335E-25FA-AFA5A951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2B86868-71A0-3EE8-F931-615017F685EB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68B57C1-4B86-8E83-B9D9-92593B1953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20A066-2585-76A0-8C88-92EA0680B933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12F9302-0C94-F069-58FA-FD89DCEFD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95169A-8422-8D72-F0D0-4EBA2674A45C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B94A56C-96A7-FC01-3A05-BAB77B1B05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97A2DC1-1CE5-A9BB-5304-AB1C75C6E0F7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D679AE61-BF09-3622-40B9-5B01A9B7833C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FA5B-7957-645A-646E-8F0A4ADAC43C}"/>
              </a:ext>
            </a:extLst>
          </p:cNvPr>
          <p:cNvSpPr txBox="1"/>
          <p:nvPr/>
        </p:nvSpPr>
        <p:spPr>
          <a:xfrm>
            <a:off x="609600" y="2765332"/>
            <a:ext cx="7848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Risk estimation is a part of risk assessment that </a:t>
            </a:r>
            <a:r>
              <a:rPr lang="en-US" b="1" dirty="0"/>
              <a:t>measures the probability and impact</a:t>
            </a:r>
            <a:r>
              <a:rPr lang="en-US" dirty="0"/>
              <a:t> of identified risks to determine their severity. It provides a </a:t>
            </a:r>
            <a:r>
              <a:rPr lang="en-US" b="1" dirty="0"/>
              <a:t>numerical or qualitative value</a:t>
            </a:r>
            <a:r>
              <a:rPr lang="en-US" dirty="0"/>
              <a:t> to express how serious a risk is.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Uses descriptive scales.</a:t>
            </a:r>
          </a:p>
          <a:p>
            <a:r>
              <a:rPr lang="en-US" b="1" dirty="0"/>
              <a:t>Common Scale</a:t>
            </a:r>
          </a:p>
          <a:p>
            <a:r>
              <a:rPr lang="en-US" dirty="0"/>
              <a:t>Likelihood: 1 (Low) to 3 (High)</a:t>
            </a:r>
          </a:p>
          <a:p>
            <a:r>
              <a:rPr lang="en-US" dirty="0"/>
              <a:t>Impact: 1 (Low) to 3 (High)</a:t>
            </a:r>
          </a:p>
          <a:p>
            <a:r>
              <a:rPr lang="en-US" b="1" dirty="0"/>
              <a:t>Risk Score = Likelihood × Impact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766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048CC8-027B-2901-C1B4-9FE01C2A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35068C8-EFF4-989D-5548-D7522D39F492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08BFF5-C669-0B04-DEF2-0E25E76E7A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D3E63B-28DA-1415-0890-169528658BB2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1175FE-AB6C-07A2-1223-DC7939075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897339-CDC0-F590-FC65-CA2DB678EE09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C25FF5-86B3-5C75-9ECC-EAE84C8108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B979B1-E305-3DCB-E2EF-F7FFF34C4FFC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2CD7588F-679F-36B7-D3FE-5FEDCBD53026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F5A78F-1A8A-E377-1660-77A583833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752101"/>
              </p:ext>
            </p:extLst>
          </p:nvPr>
        </p:nvGraphicFramePr>
        <p:xfrm>
          <a:off x="990600" y="2633883"/>
          <a:ext cx="7396162" cy="146304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3180852599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235054695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576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187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03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Likely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8927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CA2662-B5A9-180D-573E-EC9CBDDA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276892"/>
              </p:ext>
            </p:extLst>
          </p:nvPr>
        </p:nvGraphicFramePr>
        <p:xfrm>
          <a:off x="990600" y="4419277"/>
          <a:ext cx="7396162" cy="1463040"/>
        </p:xfrm>
        <a:graphic>
          <a:graphicData uri="http://schemas.openxmlformats.org/drawingml/2006/table">
            <a:tbl>
              <a:tblPr/>
              <a:tblGrid>
                <a:gridCol w="3698081">
                  <a:extLst>
                    <a:ext uri="{9D8B030D-6E8A-4147-A177-3AD203B41FA5}">
                      <a16:colId xmlns:a16="http://schemas.microsoft.com/office/drawing/2014/main" val="707117673"/>
                    </a:ext>
                  </a:extLst>
                </a:gridCol>
                <a:gridCol w="3698081">
                  <a:extLst>
                    <a:ext uri="{9D8B030D-6E8A-4147-A177-3AD203B41FA5}">
                      <a16:colId xmlns:a16="http://schemas.microsoft.com/office/drawing/2014/main" val="41856401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925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Minor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3222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8718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Major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5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1448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C356DC-7792-73C2-ED88-33DFF7D4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3C28CBF-B31F-2D42-F055-1A31A8179943}"/>
              </a:ext>
            </a:extLst>
          </p:cNvPr>
          <p:cNvGrpSpPr/>
          <p:nvPr/>
        </p:nvGrpSpPr>
        <p:grpSpPr>
          <a:xfrm>
            <a:off x="0" y="1585623"/>
            <a:ext cx="9144000" cy="4232274"/>
            <a:chOff x="0" y="1643063"/>
            <a:chExt cx="9144000" cy="423227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6419A57-A7CD-3410-C646-CF6E51407F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375" y="3071813"/>
              <a:ext cx="5430838" cy="280352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E29185E-ED88-CED1-1477-4A32B5A68F44}"/>
                </a:ext>
              </a:extLst>
            </p:cNvPr>
            <p:cNvSpPr/>
            <p:nvPr/>
          </p:nvSpPr>
          <p:spPr>
            <a:xfrm>
              <a:off x="0" y="1643063"/>
              <a:ext cx="9144000" cy="643255"/>
            </a:xfrm>
            <a:custGeom>
              <a:avLst/>
              <a:gdLst/>
              <a:ahLst/>
              <a:cxnLst/>
              <a:rect l="l" t="t" r="r" b="b"/>
              <a:pathLst>
                <a:path w="9144000" h="643255">
                  <a:moveTo>
                    <a:pt x="9143999" y="642936"/>
                  </a:moveTo>
                  <a:lnTo>
                    <a:pt x="0" y="642936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429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7E3FE9-C3E2-8780-0D1D-AB8BEDEBA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09457"/>
            <a:ext cx="744179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/>
              <a:t>Risk Estimation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27278D-0173-09E4-924A-D006FCDE5094}"/>
              </a:ext>
            </a:extLst>
          </p:cNvPr>
          <p:cNvGrpSpPr/>
          <p:nvPr/>
        </p:nvGrpSpPr>
        <p:grpSpPr>
          <a:xfrm>
            <a:off x="228065" y="208814"/>
            <a:ext cx="8832808" cy="695162"/>
            <a:chOff x="228065" y="208814"/>
            <a:chExt cx="8832808" cy="695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61A4999-52A0-E3A3-15AF-BF589D0E87E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914"/>
            <a:stretch/>
          </p:blipFill>
          <p:spPr>
            <a:xfrm>
              <a:off x="228065" y="208814"/>
              <a:ext cx="5829835" cy="69516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5955D-6221-82F7-D10C-D19576003979}"/>
                </a:ext>
              </a:extLst>
            </p:cNvPr>
            <p:cNvSpPr txBox="1"/>
            <p:nvPr userDrawn="1"/>
          </p:nvSpPr>
          <p:spPr>
            <a:xfrm>
              <a:off x="5943600" y="264007"/>
              <a:ext cx="31172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1F487C"/>
                  </a:solidFill>
                </a:rPr>
                <a:t>CSE-</a:t>
              </a:r>
              <a:r>
                <a:rPr lang="en-US" sz="3200" b="1" baseline="0" dirty="0">
                  <a:solidFill>
                    <a:srgbClr val="1F487C"/>
                  </a:solidFill>
                </a:rPr>
                <a:t> AI &amp; </a:t>
              </a:r>
              <a:r>
                <a:rPr lang="en-US" sz="3200" b="1" dirty="0">
                  <a:solidFill>
                    <a:srgbClr val="1F487C"/>
                  </a:solidFill>
                </a:rPr>
                <a:t>DS</a:t>
              </a:r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2913ECC5-7070-E68B-A9FF-883E68C45BFA}"/>
              </a:ext>
            </a:extLst>
          </p:cNvPr>
          <p:cNvSpPr/>
          <p:nvPr/>
        </p:nvSpPr>
        <p:spPr>
          <a:xfrm>
            <a:off x="-10955" y="6439636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sz="86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5D7B9-CB68-D62F-7C33-1E7ED792CACF}"/>
              </a:ext>
            </a:extLst>
          </p:cNvPr>
          <p:cNvSpPr txBox="1"/>
          <p:nvPr/>
        </p:nvSpPr>
        <p:spPr>
          <a:xfrm>
            <a:off x="1143000" y="2828835"/>
            <a:ext cx="6781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(Qualitative)</a:t>
            </a:r>
          </a:p>
          <a:p>
            <a:pPr>
              <a:buNone/>
            </a:pPr>
            <a:r>
              <a:rPr lang="en-US" dirty="0"/>
              <a:t>A data breach risk: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Likelihood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 = 3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Calculate the Risk and say the risk is High or Low</a:t>
            </a:r>
          </a:p>
        </p:txBody>
      </p:sp>
    </p:spTree>
    <p:extLst>
      <p:ext uri="{BB962C8B-B14F-4D97-AF65-F5344CB8AC3E}">
        <p14:creationId xmlns:p14="http://schemas.microsoft.com/office/powerpoint/2010/main" val="16068043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6"/>
                </a:moveTo>
                <a:lnTo>
                  <a:pt x="9143999" y="496886"/>
                </a:lnTo>
                <a:lnTo>
                  <a:pt x="9143999" y="0"/>
                </a:lnTo>
                <a:lnTo>
                  <a:pt x="0" y="0"/>
                </a:lnTo>
                <a:lnTo>
                  <a:pt x="0" y="496886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61950"/>
            <a:ext cx="9144000" cy="5999480"/>
            <a:chOff x="0" y="361950"/>
            <a:chExt cx="9144000" cy="5999480"/>
          </a:xfrm>
        </p:grpSpPr>
        <p:sp>
          <p:nvSpPr>
            <p:cNvPr id="4" name="object 4"/>
            <p:cNvSpPr/>
            <p:nvPr/>
          </p:nvSpPr>
          <p:spPr>
            <a:xfrm>
              <a:off x="0" y="3214687"/>
              <a:ext cx="9144000" cy="2789555"/>
            </a:xfrm>
            <a:custGeom>
              <a:avLst/>
              <a:gdLst/>
              <a:ahLst/>
              <a:cxnLst/>
              <a:rect l="l" t="t" r="r" b="b"/>
              <a:pathLst>
                <a:path w="9144000" h="2789554">
                  <a:moveTo>
                    <a:pt x="0" y="2789236"/>
                  </a:moveTo>
                  <a:lnTo>
                    <a:pt x="9143999" y="2789236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2789236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361950"/>
              <a:ext cx="6705599" cy="2857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8" y="4000500"/>
              <a:ext cx="4276725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8475" y="4946650"/>
              <a:ext cx="3067049" cy="2603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003925"/>
              <a:ext cx="9144000" cy="357505"/>
            </a:xfrm>
            <a:custGeom>
              <a:avLst/>
              <a:gdLst/>
              <a:ahLst/>
              <a:cxnLst/>
              <a:rect l="l" t="t" r="r" b="b"/>
              <a:pathLst>
                <a:path w="9144000" h="357504">
                  <a:moveTo>
                    <a:pt x="9143999" y="357187"/>
                  </a:moveTo>
                  <a:lnTo>
                    <a:pt x="0" y="357187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57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41681" y="6013831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97D"/>
                </a:solidFill>
                <a:latin typeface="Calibri"/>
                <a:cs typeface="Calibri"/>
                <a:hlinkClick r:id="rId5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</TotalTime>
  <Words>2802</Words>
  <Application>Microsoft Office PowerPoint</Application>
  <PresentationFormat>On-screen Show (4:3)</PresentationFormat>
  <Paragraphs>605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 Math</vt:lpstr>
      <vt:lpstr>Times New Roman</vt:lpstr>
      <vt:lpstr>Office Theme</vt:lpstr>
      <vt:lpstr>PowerPoint Presentation</vt:lpstr>
      <vt:lpstr>Contents- Software Testing</vt:lpstr>
      <vt:lpstr>Management Spectrum</vt:lpstr>
      <vt:lpstr>Management Spectrum</vt:lpstr>
      <vt:lpstr>Management Spectrum</vt:lpstr>
      <vt:lpstr>W5HH Principle</vt:lpstr>
      <vt:lpstr>W5HH Principle</vt:lpstr>
      <vt:lpstr>W5HH Principle</vt:lpstr>
      <vt:lpstr>W5HH Principle</vt:lpstr>
      <vt:lpstr>W5HH Principle</vt:lpstr>
      <vt:lpstr>Project Scope and Feasibility</vt:lpstr>
      <vt:lpstr>Project Scope and Feasibility</vt:lpstr>
      <vt:lpstr>Feasibility Analysis</vt:lpstr>
      <vt:lpstr>Feasibility Analysis</vt:lpstr>
      <vt:lpstr>Effort Estimation</vt:lpstr>
      <vt:lpstr>Popular Estimation Techniques</vt:lpstr>
      <vt:lpstr>Popular Estimation Techniques</vt:lpstr>
      <vt:lpstr>COCOMO Model (Constructive Cost Model)</vt:lpstr>
      <vt:lpstr>COCOMO Model (Constructive Cost Model)</vt:lpstr>
      <vt:lpstr>Basic COCOMO Model Formula</vt:lpstr>
      <vt:lpstr>Software Development Project</vt:lpstr>
      <vt:lpstr>Software Development Project </vt:lpstr>
      <vt:lpstr>Basic COCOMO Model Formula</vt:lpstr>
      <vt:lpstr>Real-Time Example – Basic COCOMO</vt:lpstr>
      <vt:lpstr>Real-Time Example – Basic COCOMO</vt:lpstr>
      <vt:lpstr>Intermediate COCOMO</vt:lpstr>
      <vt:lpstr>Detailed / Complete COCOMO Model</vt:lpstr>
      <vt:lpstr>Detailed / Complete COCOMO Model</vt:lpstr>
      <vt:lpstr>FPA – Function Point Analysis</vt:lpstr>
      <vt:lpstr>FPA – Function Point Analysis</vt:lpstr>
      <vt:lpstr>FPA – Function Point Analysis</vt:lpstr>
      <vt:lpstr>FPA Calculation Steps</vt:lpstr>
      <vt:lpstr>FPA Calculation Steps</vt:lpstr>
      <vt:lpstr>Steps to Calculate– Function Point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Real-Time Example – Function Point Calculation</vt:lpstr>
      <vt:lpstr>Project Scheduling &amp; Tracking</vt:lpstr>
      <vt:lpstr>Project Scheduling &amp; Tracking</vt:lpstr>
      <vt:lpstr>Project Scheduling &amp; Tracking</vt:lpstr>
      <vt:lpstr>Project Scheduling &amp; Tracking</vt:lpstr>
      <vt:lpstr>Scheduling methods</vt:lpstr>
      <vt:lpstr>Effort Distribution</vt:lpstr>
      <vt:lpstr>Risk analysis &amp; Management</vt:lpstr>
      <vt:lpstr>Predictable Risk Categories</vt:lpstr>
      <vt:lpstr>Steps for Risk Management</vt:lpstr>
      <vt:lpstr>RMMM</vt:lpstr>
      <vt:lpstr>RMMM</vt:lpstr>
      <vt:lpstr>Risk Estimation</vt:lpstr>
      <vt:lpstr>Risk Estimation</vt:lpstr>
      <vt:lpstr>Risk Estimation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Kedar</dc:creator>
  <cp:lastModifiedBy>DEEPAK PALAVALASA</cp:lastModifiedBy>
  <cp:revision>33</cp:revision>
  <dcterms:created xsi:type="dcterms:W3CDTF">2025-11-20T17:08:26Z</dcterms:created>
  <dcterms:modified xsi:type="dcterms:W3CDTF">2026-02-06T05:38:01Z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2025-11-20T00:00:00Z</vt:filetime>
  </property>
</Properties>
</file>